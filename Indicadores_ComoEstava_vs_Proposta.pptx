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6AD06-43EA-C841-8C37-872BE67B9BFB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A04AE-3F2A-8046-9BA2-4A86E40A32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57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35CC6-4D60-9A49-A029-554F25C68E8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872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35CC6-4D60-9A49-A029-554F25C68E8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065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5720" cy="51435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solidFill>
            <a:srgbClr val="0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74320"/>
            <a:ext cx="502920" cy="50292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C8FE"/>
                </a:solidFill>
              </a:rPr>
              <a:t>OBSERVATÓRIO DE PESSOAL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481328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Proposta de
Indicadores
PFGP 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C8FE"/>
                </a:solidFill>
              </a:rPr>
              <a:t>Ciclo Laboral — Como estava ×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315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C8FE"/>
                </a:solidFill>
              </a:rPr>
              <a:t>SGP / MGI  • 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8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800"/>
                </a:solidFill>
              </a:rPr>
              <a:t>6 DIMENSÕES DO CICLO LABORAL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914400"/>
            <a:ext cx="4389120" cy="36576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078992"/>
            <a:ext cx="292608" cy="310896"/>
          </a:xfrm>
          <a:prstGeom prst="rect">
            <a:avLst/>
          </a:prstGeom>
          <a:solidFill>
            <a:srgbClr val="00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1124712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143000"/>
            <a:ext cx="4069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Planejamento da Força de Trabalho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463039"/>
            <a:ext cx="292608" cy="310896"/>
          </a:xfrm>
          <a:prstGeom prst="rect">
            <a:avLst/>
          </a:prstGeom>
          <a:solidFill>
            <a:srgbClr val="C13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7408" y="1508760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527048"/>
            <a:ext cx="4069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Carreiras, Cargos e Progressão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847088"/>
            <a:ext cx="292608" cy="310896"/>
          </a:xfrm>
          <a:prstGeom prst="rect">
            <a:avLst/>
          </a:prstGeom>
          <a:solidFill>
            <a:srgbClr val="0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8" y="1892807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1911095"/>
            <a:ext cx="4069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Alocação, Ambientação e Bem-Estar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231136"/>
            <a:ext cx="292608" cy="310896"/>
          </a:xfrm>
          <a:prstGeom prst="rect">
            <a:avLst/>
          </a:prstGeom>
          <a:solidFill>
            <a:srgbClr val="37C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07408" y="227685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2295144"/>
            <a:ext cx="4069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Desenvolvimento e Desempenho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615184"/>
            <a:ext cx="292608" cy="310896"/>
          </a:xfrm>
          <a:prstGeom prst="rect">
            <a:avLst/>
          </a:prstGeom>
          <a:solidFill>
            <a:srgbClr val="9B8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07408" y="2660903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2679191"/>
            <a:ext cx="4069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Remuneração, Benefícios e Recompensas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999232"/>
            <a:ext cx="292608" cy="310896"/>
          </a:xfrm>
          <a:prstGeom prst="rect">
            <a:avLst/>
          </a:prstGeom>
          <a:solidFill>
            <a:srgbClr val="EE3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8" y="3044951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3063239"/>
            <a:ext cx="4069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Aposentação, Pensões e Desligamentos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" y="491947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C8FE"/>
                </a:solidFill>
              </a:rPr>
              <a:t>Secretaria de Gestão de Pessoas  |  Diretoria de Governança e Inteligência da Informação  |  Baseado na PFGP 2030 e RGPE vol. 3 — People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891540"/>
            <a:ext cx="91417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75511" y="137160"/>
            <a:ext cx="8572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</a:rPr>
              <a:t>Dimensões Analíticas e Fontes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642" y="1028700"/>
            <a:ext cx="1405889" cy="377190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20647" y="1062990"/>
            <a:ext cx="2743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642" y="1405889"/>
            <a:ext cx="1405889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227505" y="1440180"/>
            <a:ext cx="129616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 dirty="0" err="1">
                <a:solidFill>
                  <a:srgbClr val="00557F"/>
                </a:solidFill>
              </a:rPr>
              <a:t>Planejamento</a:t>
            </a:r>
            <a:r>
              <a:rPr sz="825" b="1" dirty="0">
                <a:solidFill>
                  <a:srgbClr val="00557F"/>
                </a:solidFill>
              </a:rPr>
              <a:t> da
</a:t>
            </a:r>
            <a:r>
              <a:rPr sz="825" b="1" dirty="0" err="1">
                <a:solidFill>
                  <a:srgbClr val="00557F"/>
                </a:solidFill>
              </a:rPr>
              <a:t>Força</a:t>
            </a:r>
            <a:r>
              <a:rPr sz="825" b="1" dirty="0">
                <a:solidFill>
                  <a:srgbClr val="00557F"/>
                </a:solidFill>
              </a:rPr>
              <a:t> de </a:t>
            </a:r>
            <a:r>
              <a:rPr sz="825" b="1" dirty="0" err="1">
                <a:solidFill>
                  <a:srgbClr val="00557F"/>
                </a:solidFill>
              </a:rPr>
              <a:t>Trabalho</a:t>
            </a:r>
            <a:endParaRPr sz="825" b="1" dirty="0">
              <a:solidFill>
                <a:srgbClr val="00557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12821" y="1028700"/>
            <a:ext cx="1405889" cy="37719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1660826" y="1062990"/>
            <a:ext cx="2743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2821" y="1405889"/>
            <a:ext cx="1405889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1667684" y="1440180"/>
            <a:ext cx="129616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1587C9"/>
                </a:solidFill>
              </a:rPr>
              <a:t>Carreiras, Cargos,
Progressão e Promoção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3001" y="1028700"/>
            <a:ext cx="1405889" cy="377190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3101006" y="1062990"/>
            <a:ext cx="2743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3001" y="1405889"/>
            <a:ext cx="1405889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8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3107864" y="1440180"/>
            <a:ext cx="129616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168A6B"/>
                </a:solidFill>
              </a:rPr>
              <a:t>Alocação, Ambientação
e Bem-Estar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3181" y="1028700"/>
            <a:ext cx="1405889" cy="377190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4541186" y="1062990"/>
            <a:ext cx="2743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3181" y="1405889"/>
            <a:ext cx="1405889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4548044" y="1440180"/>
            <a:ext cx="129616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E86B2B"/>
                </a:solidFill>
              </a:rPr>
              <a:t>Desenvolvimento e
Desempenho de Pessoal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33361" y="1028700"/>
            <a:ext cx="1405889" cy="377190"/>
          </a:xfrm>
          <a:prstGeom prst="rect">
            <a:avLst/>
          </a:prstGeom>
          <a:solidFill>
            <a:srgbClr val="7B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5981366" y="1062990"/>
            <a:ext cx="2743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33361" y="1405889"/>
            <a:ext cx="1405889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5988224" y="1440180"/>
            <a:ext cx="1296162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7B3FA8"/>
                </a:solidFill>
              </a:rPr>
              <a:t>Remuneração,
Benefícios e Recompensas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3541" y="1028700"/>
            <a:ext cx="1405889" cy="37719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7421546" y="1062990"/>
            <a:ext cx="2743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3541" y="1405889"/>
            <a:ext cx="1405889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7428404" y="1440180"/>
            <a:ext cx="129616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C0392B"/>
                </a:solidFill>
              </a:rPr>
              <a:t>Aposentação, Pensões
e Desligamentos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2641" y="3326130"/>
            <a:ext cx="8778240" cy="3429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275511" y="3415285"/>
            <a:ext cx="20574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071D41"/>
                </a:solidFill>
              </a:rPr>
              <a:t>FONTES PRIMÁRIAS: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2641" y="3737610"/>
            <a:ext cx="1714500" cy="260604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TextBox 32"/>
          <p:cNvSpPr txBox="1"/>
          <p:nvPr/>
        </p:nvSpPr>
        <p:spPr>
          <a:xfrm>
            <a:off x="227505" y="3771900"/>
            <a:ext cx="160477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SIAPE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7505" y="4032504"/>
            <a:ext cx="160477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Sistema Integrado de Admin. de Pessoal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55721" y="3737610"/>
            <a:ext cx="1714500" cy="260604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TextBox 35"/>
          <p:cNvSpPr txBox="1"/>
          <p:nvPr/>
        </p:nvSpPr>
        <p:spPr>
          <a:xfrm>
            <a:off x="2010585" y="3771900"/>
            <a:ext cx="160477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SIASS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0585" y="4032504"/>
            <a:ext cx="16047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Subsistema de Atenção à Saúde do Servidor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38801" y="3737610"/>
            <a:ext cx="1714500" cy="260604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TextBox 38"/>
          <p:cNvSpPr txBox="1"/>
          <p:nvPr/>
        </p:nvSpPr>
        <p:spPr>
          <a:xfrm>
            <a:off x="3793665" y="3771900"/>
            <a:ext cx="160477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Vozes dos Servidores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3665" y="4032504"/>
            <a:ext cx="160477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Pesquisa de Clima e Engajamento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1881" y="3737610"/>
            <a:ext cx="1714500" cy="260604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TextBox 41"/>
          <p:cNvSpPr txBox="1"/>
          <p:nvPr/>
        </p:nvSpPr>
        <p:spPr>
          <a:xfrm>
            <a:off x="5576745" y="3771900"/>
            <a:ext cx="160477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Painel DFT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6745" y="4032504"/>
            <a:ext cx="160477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Dimensionamento da Força de Trabalho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04961" y="3737610"/>
            <a:ext cx="1714500" cy="260604"/>
          </a:xfrm>
          <a:prstGeom prst="rect">
            <a:avLst/>
          </a:prstGeom>
          <a:solidFill>
            <a:srgbClr val="7B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5" name="TextBox 44"/>
          <p:cNvSpPr txBox="1"/>
          <p:nvPr/>
        </p:nvSpPr>
        <p:spPr>
          <a:xfrm>
            <a:off x="7359825" y="3771900"/>
            <a:ext cx="160477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IESGO/TCU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59825" y="4032504"/>
            <a:ext cx="160477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Indicadores de Governança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6" y="147630"/>
            <a:ext cx="9141714" cy="5143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891540"/>
            <a:ext cx="91417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75511" y="137160"/>
            <a:ext cx="8572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</a:rPr>
              <a:t>Modelo Lógico de Monitoramento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1062990"/>
            <a:ext cx="1577340" cy="342900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41222" y="1117854"/>
            <a:ext cx="15087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INSUMOS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1405889"/>
            <a:ext cx="1577340" cy="15773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5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275512" y="1474470"/>
            <a:ext cx="1440179" cy="57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Recursos disponíveis:
orçamento, sistemas,
pessoas e capacidade
organizacional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844" y="2023110"/>
            <a:ext cx="164592" cy="10287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1887140" y="1062990"/>
            <a:ext cx="1577340" cy="34290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1921431" y="1117854"/>
            <a:ext cx="15087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ATIVIDADES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87140" y="1405889"/>
            <a:ext cx="1577340" cy="15773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8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1955721" y="1474470"/>
            <a:ext cx="1440179" cy="57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Processos e ações:
capacitações, seleções,
gestão, movimentações
e normativas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5054" y="2023110"/>
            <a:ext cx="164592" cy="10287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3567350" y="1062990"/>
            <a:ext cx="1577340" cy="342900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3601641" y="1117854"/>
            <a:ext cx="15087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PRODUTOS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7350" y="1405889"/>
            <a:ext cx="1577340" cy="1577340"/>
          </a:xfrm>
          <a:prstGeom prst="rect">
            <a:avLst/>
          </a:prstGeom>
          <a:solidFill>
            <a:srgbClr val="FFFFFF"/>
          </a:solidFill>
          <a:ln w="10160">
            <a:solidFill>
              <a:srgbClr val="168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3635931" y="1474470"/>
            <a:ext cx="1440179" cy="57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Entregas diretas:
número de servidores
capacitados, cargos
preenchidos, ações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5264" y="2023110"/>
            <a:ext cx="164592" cy="10287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5247560" y="1062990"/>
            <a:ext cx="1577340" cy="342900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5281851" y="1117854"/>
            <a:ext cx="15087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RESULTADOS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7560" y="1405889"/>
            <a:ext cx="1577340" cy="15773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5316141" y="1474470"/>
            <a:ext cx="1440179" cy="57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Mudanças de curto/
médio prazo:
melhora de indicadores
de gestão de pessoas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45474" y="2023110"/>
            <a:ext cx="164592" cy="10287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6927771" y="1062990"/>
            <a:ext cx="1577340" cy="342900"/>
          </a:xfrm>
          <a:prstGeom prst="rect">
            <a:avLst/>
          </a:prstGeom>
          <a:solidFill>
            <a:srgbClr val="7B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6962062" y="1117854"/>
            <a:ext cx="15087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IMPACTOS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27771" y="1405889"/>
            <a:ext cx="1577340" cy="1577340"/>
          </a:xfrm>
          <a:prstGeom prst="rect">
            <a:avLst/>
          </a:prstGeom>
          <a:solidFill>
            <a:srgbClr val="FFFFFF"/>
          </a:solidFill>
          <a:ln w="10160">
            <a:solidFill>
              <a:srgbClr val="7B3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6996352" y="1474470"/>
            <a:ext cx="1440179" cy="57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Efeitos de longo prazo:
qualidade do serviço
público, eficiência
e equidade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7777" y="3158109"/>
            <a:ext cx="8730234" cy="3429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206931" y="2983230"/>
            <a:ext cx="870966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i="1">
                <a:solidFill>
                  <a:srgbClr val="1A1A2E"/>
                </a:solidFill>
              </a:rPr>
              <a:t>O monitoramento cobre todos os elos da cadeia de valor das políticas públicas, desde os recursos alocados até os impactos na força de trabalho e no serviço público.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6931" y="3360420"/>
            <a:ext cx="8298180" cy="219456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TextBox 32"/>
          <p:cNvSpPr txBox="1"/>
          <p:nvPr/>
        </p:nvSpPr>
        <p:spPr>
          <a:xfrm>
            <a:off x="241221" y="3387852"/>
            <a:ext cx="130302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Fase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4241" y="3387852"/>
            <a:ext cx="24003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Pergunta Central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44541" y="3387852"/>
            <a:ext cx="267462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Exemplo de Indicador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9161" y="3387852"/>
            <a:ext cx="198882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Fonte Principal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931" y="3579876"/>
            <a:ext cx="8298180" cy="21945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ectangle 37"/>
          <p:cNvSpPr/>
          <p:nvPr/>
        </p:nvSpPr>
        <p:spPr>
          <a:xfrm>
            <a:off x="206931" y="3579876"/>
            <a:ext cx="54864" cy="219456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TextBox 38"/>
          <p:cNvSpPr txBox="1"/>
          <p:nvPr/>
        </p:nvSpPr>
        <p:spPr>
          <a:xfrm>
            <a:off x="254938" y="3614167"/>
            <a:ext cx="1234439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Insumos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7957" y="3614167"/>
            <a:ext cx="23317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Temos recursos suficientes?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8257" y="3614167"/>
            <a:ext cx="26060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Orçamento p/ capacitação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2877" y="3614167"/>
            <a:ext cx="19202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Órgãos / MGI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6931" y="3799332"/>
            <a:ext cx="82981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Rectangle 43"/>
          <p:cNvSpPr/>
          <p:nvPr/>
        </p:nvSpPr>
        <p:spPr>
          <a:xfrm>
            <a:off x="206931" y="3799332"/>
            <a:ext cx="54864" cy="21945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5" name="TextBox 44"/>
          <p:cNvSpPr txBox="1"/>
          <p:nvPr/>
        </p:nvSpPr>
        <p:spPr>
          <a:xfrm>
            <a:off x="254938" y="3833623"/>
            <a:ext cx="1234439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Atividades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7957" y="3833623"/>
            <a:ext cx="23317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O que está sendo feito?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8257" y="3833623"/>
            <a:ext cx="26060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Nº ações de capacitação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32877" y="3833623"/>
            <a:ext cx="19202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ENAP / PNDP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6931" y="4018788"/>
            <a:ext cx="8298180" cy="21945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Rectangle 49"/>
          <p:cNvSpPr/>
          <p:nvPr/>
        </p:nvSpPr>
        <p:spPr>
          <a:xfrm>
            <a:off x="206931" y="4018788"/>
            <a:ext cx="54864" cy="219456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1" name="TextBox 50"/>
          <p:cNvSpPr txBox="1"/>
          <p:nvPr/>
        </p:nvSpPr>
        <p:spPr>
          <a:xfrm>
            <a:off x="254938" y="4053079"/>
            <a:ext cx="1234439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Produtos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7957" y="4053079"/>
            <a:ext cx="23317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O que foi entregue?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8257" y="4053079"/>
            <a:ext cx="26060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Servidores capacitados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2877" y="4053079"/>
            <a:ext cx="19202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SIAPE / ENAP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6931" y="4238244"/>
            <a:ext cx="82981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6" name="Rectangle 55"/>
          <p:cNvSpPr/>
          <p:nvPr/>
        </p:nvSpPr>
        <p:spPr>
          <a:xfrm>
            <a:off x="206931" y="4238244"/>
            <a:ext cx="54864" cy="219456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7" name="TextBox 56"/>
          <p:cNvSpPr txBox="1"/>
          <p:nvPr/>
        </p:nvSpPr>
        <p:spPr>
          <a:xfrm>
            <a:off x="254938" y="4272535"/>
            <a:ext cx="1234439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Resultados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7957" y="4272535"/>
            <a:ext cx="23317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O que mudou no curto prazo?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8257" y="4272535"/>
            <a:ext cx="26060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% cargos ocupados por negros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2877" y="4272535"/>
            <a:ext cx="19202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6931" y="4457700"/>
            <a:ext cx="8298180" cy="21945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2" name="Rectangle 61"/>
          <p:cNvSpPr/>
          <p:nvPr/>
        </p:nvSpPr>
        <p:spPr>
          <a:xfrm>
            <a:off x="206931" y="4457700"/>
            <a:ext cx="54864" cy="219456"/>
          </a:xfrm>
          <a:prstGeom prst="rect">
            <a:avLst/>
          </a:prstGeom>
          <a:solidFill>
            <a:srgbClr val="7B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3" name="TextBox 62"/>
          <p:cNvSpPr txBox="1"/>
          <p:nvPr/>
        </p:nvSpPr>
        <p:spPr>
          <a:xfrm>
            <a:off x="254938" y="4491991"/>
            <a:ext cx="1234439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Impactos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7957" y="4491991"/>
            <a:ext cx="23317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Qual o efeito de longo prazo?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58257" y="4491991"/>
            <a:ext cx="26060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Índice de equidade racial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32877" y="4491991"/>
            <a:ext cx="19202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SIAPE / Vozes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4037" cy="5143500"/>
          </a:xfrm>
          <a:prstGeom prst="rect">
            <a:avLst/>
          </a:prstGeom>
          <a:solidFill>
            <a:srgbClr val="00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4037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201168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6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43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Fase 1 — Planejamento e Seleção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68680"/>
            <a:ext cx="2632557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Dimensão 1
Planejamento da
Força de Trabalho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4709160"/>
            <a:ext cx="2487168" cy="274320"/>
          </a:xfrm>
          <a:prstGeom prst="rect">
            <a:avLst/>
          </a:prstGeom>
          <a:solidFill>
            <a:srgbClr val="00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73659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8C8FE"/>
                </a:solidFill>
              </a:rPr>
              <a:t>OBSERVATÓRIO DE PESSOAL / SGP / MGI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037" y="0"/>
            <a:ext cx="36576" cy="51435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82696" y="0"/>
            <a:ext cx="261518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2696" y="0"/>
            <a:ext cx="2615184" cy="566928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74136" y="73152"/>
            <a:ext cx="2478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COMO ESTAVA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10896"/>
            <a:ext cx="2478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Indicadores anteriormente propostos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658368"/>
            <a:ext cx="244144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Percentual de órgãos com DFT formalizado,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validado e em execução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Percentual de movimentações baseadas em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planejamento prévio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Percentual de ingressos baseados em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planejamento prévio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Percentual de Pessoas Negras em Liderança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640080"/>
            <a:ext cx="0" cy="429768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71616" y="0"/>
            <a:ext cx="3072384" cy="51435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0"/>
            <a:ext cx="3072384" cy="566928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63055" y="73152"/>
            <a:ext cx="2935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10896"/>
            <a:ext cx="2935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Novos indicadores propostos — PFGP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658368"/>
            <a:ext cx="285292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órgãos com DDFT atualizado e sistematizado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atendimento ao DDFT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Equidade de distribuição por gênero, raça,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origem territorial e faixa etária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Indicador de distribuição por forma de provimento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(estatutário, temporário, comissionado)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servidores que se movimentaram entre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áreas temáticas, órgãos e secretarias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4892040"/>
            <a:ext cx="5861304" cy="25146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82696" y="4892040"/>
            <a:ext cx="58613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55848" y="4919472"/>
            <a:ext cx="1097280" cy="192024"/>
          </a:xfrm>
          <a:prstGeom prst="rect">
            <a:avLst/>
          </a:prstGeom>
          <a:solidFill>
            <a:srgbClr val="00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4136" y="4933188"/>
            <a:ext cx="1060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PFGP 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919472"/>
            <a:ext cx="71323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66688"/>
                </a:solidFill>
              </a:rPr>
              <a:t>Fonte: Proposta de Indicadores (2025) | RGPE vol. 3 — People Analytics (CGINF/DIGID/SGP/MGI, mar.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4037" cy="5143500"/>
          </a:xfrm>
          <a:prstGeom prst="rect">
            <a:avLst/>
          </a:prstGeom>
          <a:solidFill>
            <a:srgbClr val="C13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4037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201168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13C01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43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Fase 4 — Carreiras e Progressão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68680"/>
            <a:ext cx="2632557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Dimensão 2
Carreiras, Cargos
e Progressão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4709160"/>
            <a:ext cx="2487168" cy="274320"/>
          </a:xfrm>
          <a:prstGeom prst="rect">
            <a:avLst/>
          </a:prstGeom>
          <a:solidFill>
            <a:srgbClr val="00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73659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8C8FE"/>
                </a:solidFill>
              </a:rPr>
              <a:t>OBSERVATÓRIO DE PESSOAL / SGP / MGI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037" y="0"/>
            <a:ext cx="36576" cy="51435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82696" y="0"/>
            <a:ext cx="261518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2696" y="0"/>
            <a:ext cx="2615184" cy="566928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74136" y="73152"/>
            <a:ext cx="2478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COMO ESTAVA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10896"/>
            <a:ext cx="2478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Indicadores anteriormente propostos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658368"/>
            <a:ext cx="244144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Redução do número de estruturas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excessivamente fragmentadas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carreiras com desenho compatível com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transversalidade e racionalidade organizacional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decisões estratégicas sobre carreiras com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critérios e fluxos institucionalizados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carreiras com critérios formalizados 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transparentes de progressão/promoção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640080"/>
            <a:ext cx="0" cy="429768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71616" y="0"/>
            <a:ext cx="3072384" cy="51435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0"/>
            <a:ext cx="3072384" cy="566928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63055" y="73152"/>
            <a:ext cx="2935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10896"/>
            <a:ext cx="2935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Novos indicadores propostos — PFGP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658368"/>
            <a:ext cx="285292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Indicador de racionalidade de carreiras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cargos em carreiras transversais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(recorte por raça, gênero, origem territorial)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servidores no PGPE e Plano de Cargos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Especiais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Tempo médio de permanência em carreiras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transversais / não transversais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Vozes — Justiça remuneratória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Vozes — Critérios de promoção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4892040"/>
            <a:ext cx="5861304" cy="25146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82696" y="4892040"/>
            <a:ext cx="58613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55848" y="4919472"/>
            <a:ext cx="1097280" cy="192024"/>
          </a:xfrm>
          <a:prstGeom prst="rect">
            <a:avLst/>
          </a:prstGeom>
          <a:solidFill>
            <a:srgbClr val="C13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4136" y="4933188"/>
            <a:ext cx="1060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PFGP 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919472"/>
            <a:ext cx="71323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66688"/>
                </a:solidFill>
              </a:rPr>
              <a:t>Fonte: Proposta de Indicadores (2025) | RGPE vol. 3 — People Analytics (CGINF/DIGID/SGP/MGI, mar.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4037" cy="5143500"/>
          </a:xfrm>
          <a:prstGeom prst="rect">
            <a:avLst/>
          </a:prstGeom>
          <a:solidFill>
            <a:srgbClr val="0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4037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201168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10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43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Fase 2 — Alocação e Ambientação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68680"/>
            <a:ext cx="2632557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Dimensão 3
Alocação, Ambientação
e Bem-Estar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4709160"/>
            <a:ext cx="2487168" cy="274320"/>
          </a:xfrm>
          <a:prstGeom prst="rect">
            <a:avLst/>
          </a:prstGeom>
          <a:solidFill>
            <a:srgbClr val="00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73659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8C8FE"/>
                </a:solidFill>
              </a:rPr>
              <a:t>OBSERVATÓRIO DE PESSOAL / SGP / MGI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037" y="0"/>
            <a:ext cx="36576" cy="51435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82696" y="0"/>
            <a:ext cx="261518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2696" y="0"/>
            <a:ext cx="2615184" cy="566928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74136" y="73152"/>
            <a:ext cx="2478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COMO ESTAVA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10896"/>
            <a:ext cx="2478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Indicadores anteriormente propostos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658368"/>
            <a:ext cx="244144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novos ingressantes alocados com base em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perfil profissiográfico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órgãos com processo estruturado de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alocação inicial e ambientação institucional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recém-ingressos com ações de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desenvolvimento no estágio probatório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recém-ingressos matriculados no PDI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órgãos com ações estruturadas de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promoção da saúde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órgãos com estratégias de enfrentamento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ao assédio e à discriminação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640080"/>
            <a:ext cx="0" cy="429768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71616" y="0"/>
            <a:ext cx="3072384" cy="51435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0"/>
            <a:ext cx="3072384" cy="566928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63055" y="73152"/>
            <a:ext cx="2935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10896"/>
            <a:ext cx="2935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Novos indicadores propostos — PFGP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658368"/>
            <a:ext cx="285292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Indicadores de turnover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Taxa de absenteísmo geral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Taxa de absenteísmo por CID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servidores com mapeamento do perfil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de competências / perfil profissiográfico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Vozes — Segurança psicológica: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• Acolhimento de pessoas diferentes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• Facilidade para pedir ajuda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• Respeito às contribuições da equipe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4892040"/>
            <a:ext cx="5861304" cy="25146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82696" y="4892040"/>
            <a:ext cx="58613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55848" y="4919472"/>
            <a:ext cx="1097280" cy="192024"/>
          </a:xfrm>
          <a:prstGeom prst="rect">
            <a:avLst/>
          </a:prstGeom>
          <a:solidFill>
            <a:srgbClr val="0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4136" y="4933188"/>
            <a:ext cx="1060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PFGP 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919472"/>
            <a:ext cx="71323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66688"/>
                </a:solidFill>
              </a:rPr>
              <a:t>Fonte: Proposta de Indicadores (2025) | RGPE vol. 3 — People Analytics (CGINF/DIGID/SGP/MGI, mar. 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4037" cy="5143500"/>
          </a:xfrm>
          <a:prstGeom prst="rect">
            <a:avLst/>
          </a:prstGeom>
          <a:solidFill>
            <a:srgbClr val="37C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4037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201168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C2D5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43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Fase 3 — Desenvolvimento e Desempenho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68680"/>
            <a:ext cx="2632557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Dimensão 4
Desenvolvimento e
Desempenho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4709160"/>
            <a:ext cx="2487168" cy="274320"/>
          </a:xfrm>
          <a:prstGeom prst="rect">
            <a:avLst/>
          </a:prstGeom>
          <a:solidFill>
            <a:srgbClr val="00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73659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8C8FE"/>
                </a:solidFill>
              </a:rPr>
              <a:t>OBSERVATÓRIO DE PESSOAL / SGP / MGI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037" y="0"/>
            <a:ext cx="36576" cy="51435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82696" y="0"/>
            <a:ext cx="261518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2696" y="0"/>
            <a:ext cx="2615184" cy="566928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74136" y="73152"/>
            <a:ext cx="2478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COMO ESTAVA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10896"/>
            <a:ext cx="2478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Indicadores anteriormente propostos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658368"/>
            <a:ext cx="244144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órgãos e entidades com PGD implementado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servidores em planos de trabalho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pactuados por entregas (PGD)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órgãos com uso sistemático de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informações de desempenho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ações de desenvolvimento vinculadas a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necessidades previamente identificadas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ocupação de funções estratégicas via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seleção estruturada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640080"/>
            <a:ext cx="0" cy="429768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71616" y="0"/>
            <a:ext cx="3072384" cy="51435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0"/>
            <a:ext cx="3072384" cy="566928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63055" y="73152"/>
            <a:ext cx="2935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10896"/>
            <a:ext cx="2935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Novos indicadores propostos — PFGP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658368"/>
            <a:ext cx="285292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servidores submetidos à avaliação de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desempenho (individual e 360°)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com mapeamento do perfil de competências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órgãos com PNDP atualizado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cargos de liderança reservados/ocupados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por estatutários, mulheres e pessoas negras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Nº de servidores formados pelo LideraGov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(por gênero, raça, origem territorial)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Vozes — Oportunidades de capacitação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Vozes — Liderança (feedback, metas,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bem-estar da equipe)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4892040"/>
            <a:ext cx="5861304" cy="25146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82696" y="4892040"/>
            <a:ext cx="58613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55848" y="4919472"/>
            <a:ext cx="1097280" cy="192024"/>
          </a:xfrm>
          <a:prstGeom prst="rect">
            <a:avLst/>
          </a:prstGeom>
          <a:solidFill>
            <a:srgbClr val="37C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4136" y="4933188"/>
            <a:ext cx="1060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PFGP 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919472"/>
            <a:ext cx="71323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66688"/>
                </a:solidFill>
              </a:rPr>
              <a:t>Fonte: Proposta de Indicadores (2025) | RGPE vol. 3 — People Analytics (CGINF/DIGID/SGP/MGI, mar.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4037" cy="5143500"/>
          </a:xfrm>
          <a:prstGeom prst="rect">
            <a:avLst/>
          </a:prstGeom>
          <a:solidFill>
            <a:srgbClr val="9B8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4037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201168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B83D9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43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Fase 5 — Remuneração e Reconhecimento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68680"/>
            <a:ext cx="2632557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Dimensão 5
Remuneração,
Benefícios e Recompensas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4709160"/>
            <a:ext cx="2487168" cy="274320"/>
          </a:xfrm>
          <a:prstGeom prst="rect">
            <a:avLst/>
          </a:prstGeom>
          <a:solidFill>
            <a:srgbClr val="00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73659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8C8FE"/>
                </a:solidFill>
              </a:rPr>
              <a:t>OBSERVATÓRIO DE PESSOAL / SGP / MGI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037" y="0"/>
            <a:ext cx="36576" cy="51435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82696" y="0"/>
            <a:ext cx="261518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2696" y="0"/>
            <a:ext cx="2615184" cy="566928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74136" y="73152"/>
            <a:ext cx="2478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COMO ESTAVA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10896"/>
            <a:ext cx="2478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Indicadores anteriormente propostos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658368"/>
            <a:ext cx="244144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Existência de diretrizes formalizadas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para a política remuneratória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estruturas remuneratórias monitoradas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por sistema integrado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Assimetrias injustificadas entre carreiras de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natureza semelhante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Percepção de justiça remuneratória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640080"/>
            <a:ext cx="0" cy="429768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71616" y="0"/>
            <a:ext cx="3072384" cy="51435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0"/>
            <a:ext cx="3072384" cy="566928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63055" y="73152"/>
            <a:ext cx="2935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10896"/>
            <a:ext cx="2935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Novos indicadores propostos — PFGP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658368"/>
            <a:ext cx="285292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Índice de desigualdade remuneratória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Indicador de valorização e reconhecimento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não pecuniário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Vozes — Engajamento no trabalho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(inspiração, entusiasmo, orgulho)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Vozes — Justiça remuneratória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(responsabilidade, qualidade, isonomia)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Vozes — Satisfação no trabalho 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intenção de saída do setor público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4892040"/>
            <a:ext cx="5861304" cy="25146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82696" y="4892040"/>
            <a:ext cx="58613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55848" y="4919472"/>
            <a:ext cx="1097280" cy="192024"/>
          </a:xfrm>
          <a:prstGeom prst="rect">
            <a:avLst/>
          </a:prstGeom>
          <a:solidFill>
            <a:srgbClr val="9B8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4136" y="4933188"/>
            <a:ext cx="1060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PFGP 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919472"/>
            <a:ext cx="71323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66688"/>
                </a:solidFill>
              </a:rPr>
              <a:t>Fonte: Proposta de Indicadores (2025) | RGPE vol. 3 — People Analytics (CGINF/DIGID/SGP/MGI, mar. 2026)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4037" cy="5143500"/>
          </a:xfrm>
          <a:prstGeom prst="rect">
            <a:avLst/>
          </a:prstGeom>
          <a:solidFill>
            <a:srgbClr val="EE3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4037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201168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E3A79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43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Fase 6 — Aposentadoria e Desligamento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68680"/>
            <a:ext cx="2632557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Dimensão 6
Aposentação, Pensões
e Desligamentos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4709160"/>
            <a:ext cx="2487168" cy="274320"/>
          </a:xfrm>
          <a:prstGeom prst="rect">
            <a:avLst/>
          </a:prstGeom>
          <a:solidFill>
            <a:srgbClr val="00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73659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8C8FE"/>
                </a:solidFill>
              </a:rPr>
              <a:t>OBSERVATÓRIO DE PESSOAL / SGP / MGI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037" y="0"/>
            <a:ext cx="36576" cy="51435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82696" y="0"/>
            <a:ext cx="261518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2696" y="0"/>
            <a:ext cx="2615184" cy="566928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74136" y="73152"/>
            <a:ext cx="2478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COMO ESTAVA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10896"/>
            <a:ext cx="2478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Indicadores anteriormente propostos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658368"/>
            <a:ext cx="244144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órgãos com ações estruturadas de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preparação para a inatividade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% de assentamentos digitalizados (RPPS)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Tempo médio de tramitação e atendimento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em processos de aposentadoria e pensão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640080"/>
            <a:ext cx="0" cy="429768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71616" y="0"/>
            <a:ext cx="3072384" cy="51435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0"/>
            <a:ext cx="3072384" cy="566928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63055" y="73152"/>
            <a:ext cx="2935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10896"/>
            <a:ext cx="2935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Novos indicadores propostos — PFGP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658368"/>
            <a:ext cx="2852928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Índice de aproveitamento de conhecimento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antes do desligamento *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Grau de satisfação com o processo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de aposentação *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Taxa de continuidade institucional após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desligamentos-chave *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Projeções de ondas de aposentadoria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por área/órgão *</a:t>
            </a:r>
          </a:p>
          <a:p>
            <a:pPr algn="l">
              <a:spcBef>
                <a:spcPts val="300"/>
              </a:spcBef>
            </a:pPr>
            <a:r>
              <a:rPr sz="900">
                <a:solidFill>
                  <a:srgbClr val="333333"/>
                </a:solidFill>
              </a:rPr>
              <a:t>• * Indicadores a desenvolver a partir do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referencial do Ciclo Laboral (gpe3/2026)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4892040"/>
            <a:ext cx="5861304" cy="25146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82696" y="4892040"/>
            <a:ext cx="58613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55848" y="4919472"/>
            <a:ext cx="1097280" cy="192024"/>
          </a:xfrm>
          <a:prstGeom prst="rect">
            <a:avLst/>
          </a:prstGeom>
          <a:solidFill>
            <a:srgbClr val="EE3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4136" y="4933188"/>
            <a:ext cx="1060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PFGP 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919472"/>
            <a:ext cx="71323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66688"/>
                </a:solidFill>
              </a:rPr>
              <a:t>Fonte: Proposta de Indicadores (2025) | RGPE vol. 3 — People Analytics (CGINF/DIGID/SGP/MGI, mar. 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4037" cy="5143500"/>
          </a:xfrm>
          <a:prstGeom prst="rect">
            <a:avLst/>
          </a:prstGeom>
          <a:solidFill>
            <a:srgbClr val="00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4037" cy="73152"/>
          </a:xfrm>
          <a:prstGeom prst="rect">
            <a:avLst/>
          </a:prstGeom>
          <a:solidFill>
            <a:srgbClr val="FFC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26325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Dimensões
Transversais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00400"/>
            <a:ext cx="263255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C8FE"/>
                </a:solidFill>
              </a:rPr>
              <a:t>Eixos que atravessam
todas as 6 dimensões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4709160"/>
            <a:ext cx="2487168" cy="274320"/>
          </a:xfrm>
          <a:prstGeom prst="rect">
            <a:avLst/>
          </a:prstGeom>
          <a:solidFill>
            <a:srgbClr val="00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473659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8C8FE"/>
                </a:solidFill>
              </a:rPr>
              <a:t>OBSERVATÓRIO DE PESSOAL / SGP / MGI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4037" y="0"/>
            <a:ext cx="36576" cy="5143500"/>
          </a:xfrm>
          <a:prstGeom prst="rect">
            <a:avLst/>
          </a:prstGeom>
          <a:solidFill>
            <a:srgbClr val="FFC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53765" y="0"/>
            <a:ext cx="1168786" cy="640080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17773" y="54864"/>
            <a:ext cx="10407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Transformação Digital e Integração Sistêmica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3765" y="640080"/>
            <a:ext cx="1168786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5205" y="749808"/>
            <a:ext cx="98590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333333"/>
                </a:solidFill>
              </a:rPr>
              <a:t>• Digitalização e integração dos sistemas estruturantes
(SIAPE, SIASS, SouGov, Portal da Transparência)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333333"/>
                </a:solidFill>
              </a:rPr>
              <a:t>• Automação de extrações e processos administrativos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9127" y="0"/>
            <a:ext cx="1168786" cy="640080"/>
          </a:xfrm>
          <a:prstGeom prst="rect">
            <a:avLst/>
          </a:prstGeom>
          <a:solidFill>
            <a:srgbClr val="00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3135" y="54864"/>
            <a:ext cx="10407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Evidências, Transparência e Segurança da Informação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9127" y="640080"/>
            <a:ext cx="1168786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0567" y="749808"/>
            <a:ext cx="98590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333333"/>
                </a:solidFill>
              </a:rPr>
              <a:t>• Realização periódica da Pesquisa Vozes dos Servidores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333333"/>
                </a:solidFill>
              </a:rPr>
              <a:t>• Taxa de respondentes da Pesquisa Vozes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333333"/>
                </a:solidFill>
              </a:rPr>
              <a:t>• Observatório de Pessoal — produção de evidências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333333"/>
                </a:solidFill>
              </a:rPr>
              <a:t>• LAI — transparência ativa e dados abertos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64489" y="0"/>
            <a:ext cx="1168786" cy="640080"/>
          </a:xfrm>
          <a:prstGeom prst="rect">
            <a:avLst/>
          </a:prstGeom>
          <a:solidFill>
            <a:srgbClr val="37C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28497" y="54864"/>
            <a:ext cx="10407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Diálogos Institucionais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4489" y="640080"/>
            <a:ext cx="1168786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37C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55929" y="749808"/>
            <a:ext cx="98590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333333"/>
                </a:solidFill>
              </a:rPr>
              <a:t>• Mecanismos de diálogo e negociação entre governo e servidores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333333"/>
                </a:solidFill>
              </a:rPr>
              <a:t>• Participação dos servidores na formulação de políticas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9851" y="0"/>
            <a:ext cx="1168786" cy="640080"/>
          </a:xfrm>
          <a:prstGeom prst="rect">
            <a:avLst/>
          </a:prstGeom>
          <a:solidFill>
            <a:srgbClr val="C13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3859" y="54864"/>
            <a:ext cx="10407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Atualização Normativa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9851" y="640080"/>
            <a:ext cx="1168786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C13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61291" y="749808"/>
            <a:ext cx="98590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333333"/>
                </a:solidFill>
              </a:rPr>
              <a:t>• Modernização e consolidação da legislação de pessoal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333333"/>
                </a:solidFill>
              </a:rPr>
              <a:t>• Consolidação do Regime Jurídico Único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213" y="0"/>
            <a:ext cx="1168786" cy="640080"/>
          </a:xfrm>
          <a:prstGeom prst="rect">
            <a:avLst/>
          </a:prstGeom>
          <a:solidFill>
            <a:srgbClr val="9B8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39221" y="54864"/>
            <a:ext cx="10407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Governança Pública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5213" y="640080"/>
            <a:ext cx="1168786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9B8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66653" y="749808"/>
            <a:ext cx="98590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333333"/>
                </a:solidFill>
              </a:rPr>
              <a:t>• Indicadores de maturidade institucional em gestão de pessoas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333333"/>
                </a:solidFill>
              </a:rPr>
              <a:t>• Alinhamento com IESGO/TCU e padrões internacionais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82696" y="4892040"/>
            <a:ext cx="5861304" cy="25146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82696" y="4892040"/>
            <a:ext cx="58613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55848" y="4919472"/>
            <a:ext cx="1097280" cy="192024"/>
          </a:xfrm>
          <a:prstGeom prst="rect">
            <a:avLst/>
          </a:prstGeom>
          <a:solidFill>
            <a:srgbClr val="00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74136" y="4933188"/>
            <a:ext cx="1060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PFGP 2030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8576" y="4919472"/>
            <a:ext cx="71323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66688"/>
                </a:solidFill>
              </a:rPr>
              <a:t>Fonte: Proposta de Indicadores (2025) | RGPE vol. 3 — People Analytics (CGINF/DIGID/SGP/MGI, mar. 2026)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891540"/>
            <a:ext cx="91417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75511" y="137160"/>
            <a:ext cx="8572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dirty="0">
                <a:solidFill>
                  <a:srgbClr val="FFFFFF"/>
                </a:solidFill>
              </a:rPr>
              <a:t>Mapa de Status dos </a:t>
            </a:r>
            <a:r>
              <a:rPr sz="1650" b="1" dirty="0" err="1">
                <a:solidFill>
                  <a:srgbClr val="FFFFFF"/>
                </a:solidFill>
              </a:rPr>
              <a:t>Indicadores</a:t>
            </a:r>
            <a:endParaRPr sz="165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6931" y="1062990"/>
            <a:ext cx="1645920" cy="260604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61795" y="1097280"/>
            <a:ext cx="15361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PUBLICADO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221" y="1357884"/>
            <a:ext cx="164592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>
                <a:solidFill>
                  <a:srgbClr val="1A1A2E"/>
                </a:solidFill>
              </a:rPr>
              <a:t>Disponível e apresentado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5720" y="1062990"/>
            <a:ext cx="1645920" cy="260604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2010584" y="1097280"/>
            <a:ext cx="15361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DADOS OBTIDOS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0010" y="1357884"/>
            <a:ext cx="164592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>
                <a:solidFill>
                  <a:srgbClr val="1A1A2E"/>
                </a:solidFill>
              </a:rPr>
              <a:t>Dados extraídos, cálculo em andamento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4510" y="1062990"/>
            <a:ext cx="1645920" cy="2606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3759375" y="1097280"/>
            <a:ext cx="15361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A CALCULAR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8800" y="1357884"/>
            <a:ext cx="164592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>
                <a:solidFill>
                  <a:srgbClr val="1A1A2E"/>
                </a:solidFill>
              </a:rPr>
              <a:t>Dados disponíveis, fórmula a aplicar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53300" y="1062990"/>
            <a:ext cx="1645920" cy="260604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5508164" y="1097280"/>
            <a:ext cx="15361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A AVALIAR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7590" y="1357884"/>
            <a:ext cx="164592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>
                <a:solidFill>
                  <a:srgbClr val="1A1A2E"/>
                </a:solidFill>
              </a:rPr>
              <a:t>Depende de validação institucional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2091" y="1062990"/>
            <a:ext cx="1645920" cy="260604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7256955" y="1097280"/>
            <a:ext cx="1536192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</a:rPr>
              <a:t>SEM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6381" y="1357884"/>
            <a:ext cx="164592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>
                <a:solidFill>
                  <a:srgbClr val="1A1A2E"/>
                </a:solidFill>
              </a:rPr>
              <a:t>Indicador levantado, pendente análise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6931" y="1714500"/>
            <a:ext cx="2846070" cy="30861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248079" y="1741933"/>
            <a:ext cx="2798064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3" b="1">
                <a:solidFill>
                  <a:srgbClr val="FFFFFF"/>
                </a:solidFill>
              </a:rPr>
              <a:t>Dimensão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87291" y="1714500"/>
            <a:ext cx="994410" cy="308610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3128438" y="1741933"/>
            <a:ext cx="946404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3" b="1">
                <a:solidFill>
                  <a:srgbClr val="FFFFFF"/>
                </a:solidFill>
              </a:rPr>
              <a:t>Publicado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5991" y="1714500"/>
            <a:ext cx="1131570" cy="30861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TextBox 25"/>
          <p:cNvSpPr txBox="1"/>
          <p:nvPr/>
        </p:nvSpPr>
        <p:spPr>
          <a:xfrm>
            <a:off x="4157139" y="1741932"/>
            <a:ext cx="1083564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3" b="1">
                <a:solidFill>
                  <a:srgbClr val="FFFFFF"/>
                </a:solidFill>
              </a:rPr>
              <a:t>Dados
Obtidos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81851" y="1714500"/>
            <a:ext cx="994410" cy="30861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5322999" y="1741933"/>
            <a:ext cx="946404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3" b="1">
                <a:solidFill>
                  <a:srgbClr val="FFFFFF"/>
                </a:solidFill>
              </a:rPr>
              <a:t>A Calcular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10551" y="1714500"/>
            <a:ext cx="994410" cy="308610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TextBox 29"/>
          <p:cNvSpPr txBox="1"/>
          <p:nvPr/>
        </p:nvSpPr>
        <p:spPr>
          <a:xfrm>
            <a:off x="6351699" y="1741933"/>
            <a:ext cx="946404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3" b="1">
                <a:solidFill>
                  <a:srgbClr val="FFFFFF"/>
                </a:solidFill>
              </a:rPr>
              <a:t>A Avaliar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39251" y="1714500"/>
            <a:ext cx="994410" cy="30861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TextBox 31"/>
          <p:cNvSpPr txBox="1"/>
          <p:nvPr/>
        </p:nvSpPr>
        <p:spPr>
          <a:xfrm>
            <a:off x="7380399" y="1741933"/>
            <a:ext cx="946404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3" b="1">
                <a:solidFill>
                  <a:srgbClr val="FFFFFF"/>
                </a:solidFill>
              </a:rPr>
              <a:t>Sem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931" y="2023110"/>
            <a:ext cx="8298180" cy="35661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/>
          <p:cNvSpPr txBox="1"/>
          <p:nvPr/>
        </p:nvSpPr>
        <p:spPr>
          <a:xfrm>
            <a:off x="261796" y="2077974"/>
            <a:ext cx="28117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1. Planejamento da Força de Trabalho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3031" y="2091690"/>
            <a:ext cx="411480" cy="233172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TextBox 35"/>
          <p:cNvSpPr txBox="1"/>
          <p:nvPr/>
        </p:nvSpPr>
        <p:spPr>
          <a:xfrm>
            <a:off x="3293031" y="210540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1731" y="2091690"/>
            <a:ext cx="411480" cy="233172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TextBox 37"/>
          <p:cNvSpPr txBox="1"/>
          <p:nvPr/>
        </p:nvSpPr>
        <p:spPr>
          <a:xfrm>
            <a:off x="4321731" y="210540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7591" y="2091690"/>
            <a:ext cx="411480" cy="2331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5487591" y="210540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291" y="2091690"/>
            <a:ext cx="411480" cy="233172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TextBox 41"/>
          <p:cNvSpPr txBox="1"/>
          <p:nvPr/>
        </p:nvSpPr>
        <p:spPr>
          <a:xfrm>
            <a:off x="6516291" y="210540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4991" y="2091690"/>
            <a:ext cx="411480" cy="233172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TextBox 43"/>
          <p:cNvSpPr txBox="1"/>
          <p:nvPr/>
        </p:nvSpPr>
        <p:spPr>
          <a:xfrm>
            <a:off x="7544991" y="210540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6931" y="2379726"/>
            <a:ext cx="82981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TextBox 45"/>
          <p:cNvSpPr txBox="1"/>
          <p:nvPr/>
        </p:nvSpPr>
        <p:spPr>
          <a:xfrm>
            <a:off x="261796" y="2434590"/>
            <a:ext cx="28117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2. Carreiras, Cargos e Progressão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3031" y="2448306"/>
            <a:ext cx="411480" cy="233172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TextBox 47"/>
          <p:cNvSpPr txBox="1"/>
          <p:nvPr/>
        </p:nvSpPr>
        <p:spPr>
          <a:xfrm>
            <a:off x="3293031" y="2462022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1731" y="2448306"/>
            <a:ext cx="411480" cy="233172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TextBox 49"/>
          <p:cNvSpPr txBox="1"/>
          <p:nvPr/>
        </p:nvSpPr>
        <p:spPr>
          <a:xfrm>
            <a:off x="4321731" y="2462022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7591" y="2448306"/>
            <a:ext cx="411480" cy="2331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TextBox 51"/>
          <p:cNvSpPr txBox="1"/>
          <p:nvPr/>
        </p:nvSpPr>
        <p:spPr>
          <a:xfrm>
            <a:off x="5487591" y="2462022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16291" y="2448306"/>
            <a:ext cx="411480" cy="233172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4" name="TextBox 53"/>
          <p:cNvSpPr txBox="1"/>
          <p:nvPr/>
        </p:nvSpPr>
        <p:spPr>
          <a:xfrm>
            <a:off x="6516291" y="2462022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44991" y="2448306"/>
            <a:ext cx="411480" cy="233172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6" name="TextBox 55"/>
          <p:cNvSpPr txBox="1"/>
          <p:nvPr/>
        </p:nvSpPr>
        <p:spPr>
          <a:xfrm>
            <a:off x="7544991" y="2462022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6931" y="2736342"/>
            <a:ext cx="8298180" cy="35661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8" name="TextBox 57"/>
          <p:cNvSpPr txBox="1"/>
          <p:nvPr/>
        </p:nvSpPr>
        <p:spPr>
          <a:xfrm>
            <a:off x="261796" y="2791206"/>
            <a:ext cx="28117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3. Alocação, Ambientação e Bem-Estar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93031" y="2804922"/>
            <a:ext cx="411480" cy="233172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0" name="TextBox 59"/>
          <p:cNvSpPr txBox="1"/>
          <p:nvPr/>
        </p:nvSpPr>
        <p:spPr>
          <a:xfrm>
            <a:off x="3293031" y="2818638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1731" y="2804922"/>
            <a:ext cx="411480" cy="233172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2" name="TextBox 61"/>
          <p:cNvSpPr txBox="1"/>
          <p:nvPr/>
        </p:nvSpPr>
        <p:spPr>
          <a:xfrm>
            <a:off x="4321731" y="2818638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7591" y="2804922"/>
            <a:ext cx="411480" cy="2331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4" name="TextBox 63"/>
          <p:cNvSpPr txBox="1"/>
          <p:nvPr/>
        </p:nvSpPr>
        <p:spPr>
          <a:xfrm>
            <a:off x="5487591" y="2818638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16291" y="2804922"/>
            <a:ext cx="411480" cy="233172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6" name="TextBox 65"/>
          <p:cNvSpPr txBox="1"/>
          <p:nvPr/>
        </p:nvSpPr>
        <p:spPr>
          <a:xfrm>
            <a:off x="6516291" y="2818638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44991" y="2804922"/>
            <a:ext cx="411480" cy="233172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8" name="TextBox 67"/>
          <p:cNvSpPr txBox="1"/>
          <p:nvPr/>
        </p:nvSpPr>
        <p:spPr>
          <a:xfrm>
            <a:off x="7544991" y="2818638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6931" y="3092958"/>
            <a:ext cx="82981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0" name="TextBox 69"/>
          <p:cNvSpPr txBox="1"/>
          <p:nvPr/>
        </p:nvSpPr>
        <p:spPr>
          <a:xfrm>
            <a:off x="261796" y="3147822"/>
            <a:ext cx="28117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4. Desenvolvimento e Desempenho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3031" y="3161537"/>
            <a:ext cx="411480" cy="233172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2" name="TextBox 71"/>
          <p:cNvSpPr txBox="1"/>
          <p:nvPr/>
        </p:nvSpPr>
        <p:spPr>
          <a:xfrm>
            <a:off x="3293031" y="3175254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21731" y="3161537"/>
            <a:ext cx="411480" cy="233172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4" name="TextBox 73"/>
          <p:cNvSpPr txBox="1"/>
          <p:nvPr/>
        </p:nvSpPr>
        <p:spPr>
          <a:xfrm>
            <a:off x="4321731" y="3175254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7591" y="3161537"/>
            <a:ext cx="411480" cy="2331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6" name="TextBox 75"/>
          <p:cNvSpPr txBox="1"/>
          <p:nvPr/>
        </p:nvSpPr>
        <p:spPr>
          <a:xfrm>
            <a:off x="5487591" y="3175254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16291" y="3161537"/>
            <a:ext cx="411480" cy="233172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8" name="TextBox 77"/>
          <p:cNvSpPr txBox="1"/>
          <p:nvPr/>
        </p:nvSpPr>
        <p:spPr>
          <a:xfrm>
            <a:off x="6516291" y="3175254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44991" y="3161537"/>
            <a:ext cx="411480" cy="233172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0" name="TextBox 79"/>
          <p:cNvSpPr txBox="1"/>
          <p:nvPr/>
        </p:nvSpPr>
        <p:spPr>
          <a:xfrm>
            <a:off x="7544991" y="3175254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6931" y="3449574"/>
            <a:ext cx="8298180" cy="35661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2" name="TextBox 81"/>
          <p:cNvSpPr txBox="1"/>
          <p:nvPr/>
        </p:nvSpPr>
        <p:spPr>
          <a:xfrm>
            <a:off x="261796" y="3504438"/>
            <a:ext cx="28117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5. Remuneração, Benefícios e Recompensas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93031" y="3518154"/>
            <a:ext cx="411480" cy="233172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4" name="TextBox 83"/>
          <p:cNvSpPr txBox="1"/>
          <p:nvPr/>
        </p:nvSpPr>
        <p:spPr>
          <a:xfrm>
            <a:off x="3293031" y="35318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21731" y="3518154"/>
            <a:ext cx="411480" cy="233172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6" name="TextBox 85"/>
          <p:cNvSpPr txBox="1"/>
          <p:nvPr/>
        </p:nvSpPr>
        <p:spPr>
          <a:xfrm>
            <a:off x="4321731" y="35318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7591" y="3518154"/>
            <a:ext cx="411480" cy="2331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8" name="TextBox 87"/>
          <p:cNvSpPr txBox="1"/>
          <p:nvPr/>
        </p:nvSpPr>
        <p:spPr>
          <a:xfrm>
            <a:off x="5487591" y="35318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16291" y="3518154"/>
            <a:ext cx="411480" cy="233172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" name="TextBox 89"/>
          <p:cNvSpPr txBox="1"/>
          <p:nvPr/>
        </p:nvSpPr>
        <p:spPr>
          <a:xfrm>
            <a:off x="6516291" y="35318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44991" y="3518154"/>
            <a:ext cx="411480" cy="233172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2" name="TextBox 91"/>
          <p:cNvSpPr txBox="1"/>
          <p:nvPr/>
        </p:nvSpPr>
        <p:spPr>
          <a:xfrm>
            <a:off x="7544991" y="35318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6931" y="3806190"/>
            <a:ext cx="82981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4" name="TextBox 93"/>
          <p:cNvSpPr txBox="1"/>
          <p:nvPr/>
        </p:nvSpPr>
        <p:spPr>
          <a:xfrm>
            <a:off x="261796" y="3861054"/>
            <a:ext cx="28117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6. Aposentação, Pensões e Desligamentos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93031" y="3874770"/>
            <a:ext cx="411480" cy="233172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6" name="TextBox 95"/>
          <p:cNvSpPr txBox="1"/>
          <p:nvPr/>
        </p:nvSpPr>
        <p:spPr>
          <a:xfrm>
            <a:off x="3293031" y="388848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21731" y="3874770"/>
            <a:ext cx="411480" cy="233172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8" name="TextBox 97"/>
          <p:cNvSpPr txBox="1"/>
          <p:nvPr/>
        </p:nvSpPr>
        <p:spPr>
          <a:xfrm>
            <a:off x="4321731" y="388848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7591" y="3874770"/>
            <a:ext cx="411480" cy="2331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0" name="TextBox 99"/>
          <p:cNvSpPr txBox="1"/>
          <p:nvPr/>
        </p:nvSpPr>
        <p:spPr>
          <a:xfrm>
            <a:off x="5487591" y="388848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16291" y="3874770"/>
            <a:ext cx="411480" cy="233172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2" name="TextBox 101"/>
          <p:cNvSpPr txBox="1"/>
          <p:nvPr/>
        </p:nvSpPr>
        <p:spPr>
          <a:xfrm>
            <a:off x="6516291" y="388848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44991" y="3874770"/>
            <a:ext cx="411480" cy="233172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4" name="TextBox 103"/>
          <p:cNvSpPr txBox="1"/>
          <p:nvPr/>
        </p:nvSpPr>
        <p:spPr>
          <a:xfrm>
            <a:off x="7544991" y="3888486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6931" y="4162806"/>
            <a:ext cx="8298180" cy="288036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6" name="TextBox 105"/>
          <p:cNvSpPr txBox="1"/>
          <p:nvPr/>
        </p:nvSpPr>
        <p:spPr>
          <a:xfrm>
            <a:off x="261796" y="4217671"/>
            <a:ext cx="2811779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93031" y="42176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321731" y="42176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7591" y="42176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16291" y="42176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44991" y="421767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~30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891540"/>
            <a:ext cx="91417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75511" y="137160"/>
            <a:ext cx="8572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</a:rPr>
              <a:t>Indicadores Possíveis — Primeiro Momento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511" y="973837"/>
            <a:ext cx="85725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i="1">
                <a:solidFill>
                  <a:srgbClr val="1A1A2E"/>
                </a:solidFill>
              </a:rPr>
              <a:t>Indicadores com dados já disponíveis no SIAPE ou na Pesquisa Vozes — viáveis de forma imediata ou com esforço técnico reduzido.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6932" y="1316736"/>
            <a:ext cx="219455" cy="219456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241222" y="1344169"/>
            <a:ext cx="171449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961" y="1316736"/>
            <a:ext cx="3065526" cy="219456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81251" y="1344169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FFFFFF"/>
                </a:solidFill>
              </a:rPr>
              <a:t>Indicador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3061" y="1316736"/>
            <a:ext cx="1351026" cy="219456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3567351" y="1344169"/>
            <a:ext cx="13030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FFFFFF"/>
                </a:solidFill>
              </a:rPr>
              <a:t>Fonte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04661" y="1316736"/>
            <a:ext cx="1488186" cy="219456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4938951" y="1344169"/>
            <a:ext cx="14401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3421" y="1316736"/>
            <a:ext cx="2468880" cy="219456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6447711" y="1344169"/>
            <a:ext cx="24003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FFFFFF"/>
                </a:solidFill>
              </a:rPr>
              <a:t>Observação / Dimensão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931" y="1536191"/>
            <a:ext cx="8675370" cy="28803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206931" y="1536191"/>
            <a:ext cx="34290" cy="288036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227504" y="1584197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535" y="1584198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% de Pessoas Negras em Liderança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3635" y="1584197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8951" y="1591056"/>
            <a:ext cx="1268730" cy="178308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4959525" y="1604772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Publicado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3995" y="1584198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1 — Diversidade e Liderança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6931" y="1824227"/>
            <a:ext cx="8675370" cy="288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206931" y="1824227"/>
            <a:ext cx="34290" cy="28803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227504" y="1872233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535" y="1872234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Percepção de Justiça Remuneratória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3635" y="1872233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Pesq. Vozes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8951" y="1879092"/>
            <a:ext cx="1268730" cy="17830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4959525" y="1892808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Dados Obtidos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3995" y="1872234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5 — Remuneração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931" y="2112263"/>
            <a:ext cx="8675370" cy="28803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Rectangle 33"/>
          <p:cNvSpPr/>
          <p:nvPr/>
        </p:nvSpPr>
        <p:spPr>
          <a:xfrm>
            <a:off x="206931" y="2112263"/>
            <a:ext cx="34290" cy="28803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TextBox 34"/>
          <p:cNvSpPr txBox="1"/>
          <p:nvPr/>
        </p:nvSpPr>
        <p:spPr>
          <a:xfrm>
            <a:off x="227504" y="2160269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535" y="2160270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Segurança Psicológica nas Equipes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3635" y="2160269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Pesq. Vozes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8951" y="2167127"/>
            <a:ext cx="1268730" cy="17830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TextBox 38"/>
          <p:cNvSpPr txBox="1"/>
          <p:nvPr/>
        </p:nvSpPr>
        <p:spPr>
          <a:xfrm>
            <a:off x="4959525" y="2180844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Dados Obtidos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3995" y="2160270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3 — Bem-Estar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6931" y="2400300"/>
            <a:ext cx="8675370" cy="288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/>
          <p:cNvSpPr/>
          <p:nvPr/>
        </p:nvSpPr>
        <p:spPr>
          <a:xfrm>
            <a:off x="206931" y="2400300"/>
            <a:ext cx="34290" cy="28803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TextBox 42"/>
          <p:cNvSpPr txBox="1"/>
          <p:nvPr/>
        </p:nvSpPr>
        <p:spPr>
          <a:xfrm>
            <a:off x="227504" y="2448306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535" y="2448307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Índice de Desigualdade de Remuneração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53635" y="2448306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8951" y="2455164"/>
            <a:ext cx="1268730" cy="17830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TextBox 46"/>
          <p:cNvSpPr txBox="1"/>
          <p:nvPr/>
        </p:nvSpPr>
        <p:spPr>
          <a:xfrm>
            <a:off x="4959525" y="2468880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Dados Obtidos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3995" y="2448306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5 — Remuneração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6931" y="2688336"/>
            <a:ext cx="8675370" cy="28803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Rectangle 49"/>
          <p:cNvSpPr/>
          <p:nvPr/>
        </p:nvSpPr>
        <p:spPr>
          <a:xfrm>
            <a:off x="206931" y="2688336"/>
            <a:ext cx="34290" cy="2880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1" name="TextBox 50"/>
          <p:cNvSpPr txBox="1"/>
          <p:nvPr/>
        </p:nvSpPr>
        <p:spPr>
          <a:xfrm>
            <a:off x="227504" y="2736342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7535" y="2736343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Distribuição por Forma de Provimento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53635" y="2736342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8951" y="2743200"/>
            <a:ext cx="1268730" cy="1783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5" name="TextBox 54"/>
          <p:cNvSpPr txBox="1"/>
          <p:nvPr/>
        </p:nvSpPr>
        <p:spPr>
          <a:xfrm>
            <a:off x="4959525" y="2756916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A Calcular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3995" y="2736342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1 — Força de Trabalho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6931" y="2976372"/>
            <a:ext cx="8675370" cy="288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8" name="Rectangle 57"/>
          <p:cNvSpPr/>
          <p:nvPr/>
        </p:nvSpPr>
        <p:spPr>
          <a:xfrm>
            <a:off x="206931" y="2976372"/>
            <a:ext cx="34290" cy="2880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9" name="TextBox 58"/>
          <p:cNvSpPr txBox="1"/>
          <p:nvPr/>
        </p:nvSpPr>
        <p:spPr>
          <a:xfrm>
            <a:off x="227504" y="3024378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7535" y="3024379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Indicadores de Turnover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53635" y="3024378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8951" y="3031236"/>
            <a:ext cx="1268730" cy="1783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3" name="TextBox 62"/>
          <p:cNvSpPr txBox="1"/>
          <p:nvPr/>
        </p:nvSpPr>
        <p:spPr>
          <a:xfrm>
            <a:off x="4959525" y="3044952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A Calcular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3995" y="3024378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Dims. 1, 2, 6 — Movimentação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6931" y="3264408"/>
            <a:ext cx="8675370" cy="28803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6" name="Rectangle 65"/>
          <p:cNvSpPr/>
          <p:nvPr/>
        </p:nvSpPr>
        <p:spPr>
          <a:xfrm>
            <a:off x="206931" y="3264408"/>
            <a:ext cx="34290" cy="2880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7" name="TextBox 66"/>
          <p:cNvSpPr txBox="1"/>
          <p:nvPr/>
        </p:nvSpPr>
        <p:spPr>
          <a:xfrm>
            <a:off x="227504" y="3312414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7535" y="3312415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% Servidores com Movimentação Registrada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53635" y="3312414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8951" y="3319272"/>
            <a:ext cx="1268730" cy="1783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1" name="TextBox 70"/>
          <p:cNvSpPr txBox="1"/>
          <p:nvPr/>
        </p:nvSpPr>
        <p:spPr>
          <a:xfrm>
            <a:off x="4959525" y="3332988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A Calcular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33995" y="3312414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1 — Movimentação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6931" y="3552444"/>
            <a:ext cx="8675370" cy="288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4" name="Rectangle 73"/>
          <p:cNvSpPr/>
          <p:nvPr/>
        </p:nvSpPr>
        <p:spPr>
          <a:xfrm>
            <a:off x="206931" y="3552444"/>
            <a:ext cx="34290" cy="2880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5" name="TextBox 74"/>
          <p:cNvSpPr txBox="1"/>
          <p:nvPr/>
        </p:nvSpPr>
        <p:spPr>
          <a:xfrm>
            <a:off x="227504" y="3600450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7535" y="3600451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Taxa de Absenteísmo Geral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53635" y="3600450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38951" y="3607308"/>
            <a:ext cx="1268730" cy="1783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9" name="TextBox 78"/>
          <p:cNvSpPr txBox="1"/>
          <p:nvPr/>
        </p:nvSpPr>
        <p:spPr>
          <a:xfrm>
            <a:off x="4959525" y="3621024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Extração direta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33995" y="3600450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3 — Saúde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6931" y="3840480"/>
            <a:ext cx="8675370" cy="28803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2" name="Rectangle 81"/>
          <p:cNvSpPr/>
          <p:nvPr/>
        </p:nvSpPr>
        <p:spPr>
          <a:xfrm>
            <a:off x="206931" y="3840480"/>
            <a:ext cx="34290" cy="288036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3" name="TextBox 82"/>
          <p:cNvSpPr txBox="1"/>
          <p:nvPr/>
        </p:nvSpPr>
        <p:spPr>
          <a:xfrm>
            <a:off x="227504" y="3888486"/>
            <a:ext cx="20574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7535" y="3888487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% Órgãos com PGD Implementado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53635" y="3888486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 / MGI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8951" y="3895344"/>
            <a:ext cx="1268730" cy="178308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7" name="TextBox 86"/>
          <p:cNvSpPr txBox="1"/>
          <p:nvPr/>
        </p:nvSpPr>
        <p:spPr>
          <a:xfrm>
            <a:off x="4959525" y="3909060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Baixa dific.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33995" y="3888486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4 — Desempenho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6931" y="4128516"/>
            <a:ext cx="8675370" cy="288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" name="Rectangle 89"/>
          <p:cNvSpPr/>
          <p:nvPr/>
        </p:nvSpPr>
        <p:spPr>
          <a:xfrm>
            <a:off x="206931" y="4128516"/>
            <a:ext cx="34290" cy="288036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1" name="TextBox 90"/>
          <p:cNvSpPr txBox="1"/>
          <p:nvPr/>
        </p:nvSpPr>
        <p:spPr>
          <a:xfrm>
            <a:off x="227504" y="4176522"/>
            <a:ext cx="2057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7535" y="4176523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% Servidores em Planos de Trabalho (PGD)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3635" y="4176522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38951" y="4183380"/>
            <a:ext cx="1268730" cy="178308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5" name="TextBox 94"/>
          <p:cNvSpPr txBox="1"/>
          <p:nvPr/>
        </p:nvSpPr>
        <p:spPr>
          <a:xfrm>
            <a:off x="4959525" y="4197096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Baixa dific.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33995" y="4176522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4 — Desempenho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6931" y="4416552"/>
            <a:ext cx="8675370" cy="28803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8" name="Rectangle 97"/>
          <p:cNvSpPr/>
          <p:nvPr/>
        </p:nvSpPr>
        <p:spPr>
          <a:xfrm>
            <a:off x="206931" y="4416552"/>
            <a:ext cx="34290" cy="2880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9" name="TextBox 98"/>
          <p:cNvSpPr txBox="1"/>
          <p:nvPr/>
        </p:nvSpPr>
        <p:spPr>
          <a:xfrm>
            <a:off x="227504" y="4464558"/>
            <a:ext cx="2057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7535" y="4464559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Equidade Demográfica na Força de Trabalho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53635" y="4464558"/>
            <a:ext cx="13030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38951" y="4471416"/>
            <a:ext cx="1268730" cy="1783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3" name="TextBox 102"/>
          <p:cNvSpPr txBox="1"/>
          <p:nvPr/>
        </p:nvSpPr>
        <p:spPr>
          <a:xfrm>
            <a:off x="4959525" y="4485132"/>
            <a:ext cx="1227582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b="1">
                <a:solidFill>
                  <a:srgbClr val="FFFFFF"/>
                </a:solidFill>
              </a:rPr>
              <a:t>A Calcular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33995" y="4464558"/>
            <a:ext cx="2400300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8" i="1">
                <a:solidFill>
                  <a:srgbClr val="1A1A2E"/>
                </a:solidFill>
              </a:rPr>
              <a:t>Dim. 1 — Diversidade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891540"/>
            <a:ext cx="91417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75511" y="137160"/>
            <a:ext cx="8572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</a:rPr>
              <a:t>Como Obter os Indicadores — Via SIAPE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973836"/>
            <a:ext cx="8709660" cy="342900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344091" y="1014984"/>
            <a:ext cx="843534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</a:rPr>
              <a:t>SIAPE — Sistema Integrado de Administração de Pessoal  |  Principal fonte de indicadores administrativos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1405889"/>
            <a:ext cx="2125980" cy="329184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206931" y="1405889"/>
            <a:ext cx="329184" cy="3291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275511" y="1440181"/>
            <a:ext cx="205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1" y="1440180"/>
            <a:ext cx="1714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</a:rPr>
              <a:t>Identificar variáveis
no SIAPE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931" y="1735074"/>
            <a:ext cx="21259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5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289227" y="1796797"/>
            <a:ext cx="1961388" cy="57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Mapear quais tabelas e campos correspondem
aos indicadores prioritários.
Envolvimento da equipe de TI/DEGEP.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5781" y="1405889"/>
            <a:ext cx="2125980" cy="329184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2435781" y="1405889"/>
            <a:ext cx="329184" cy="3291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2504361" y="1440181"/>
            <a:ext cx="205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2970" y="1440180"/>
            <a:ext cx="1714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</a:rPr>
              <a:t>Extração e
padronização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5781" y="1735074"/>
            <a:ext cx="21259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158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2518077" y="1796797"/>
            <a:ext cx="1961388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Definir queries, scripts ou acesso via API.
Garantir granularidade: órgão, gênero,
raça, cargo, tempo.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4631" y="1405889"/>
            <a:ext cx="2125980" cy="329184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4664631" y="1405889"/>
            <a:ext cx="329184" cy="3291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4733210" y="1440181"/>
            <a:ext cx="205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821" y="1440180"/>
            <a:ext cx="1714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</a:rPr>
              <a:t>Validação com
área de negócio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4631" y="1735074"/>
            <a:ext cx="21259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168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4746927" y="1796797"/>
            <a:ext cx="1961388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Verificar se as regras de negócio refletem
a realidade institucional.
Alinhamento com DEGEP/SGP.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93481" y="1405889"/>
            <a:ext cx="2125980" cy="329184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Rectangle 26"/>
          <p:cNvSpPr/>
          <p:nvPr/>
        </p:nvSpPr>
        <p:spPr>
          <a:xfrm>
            <a:off x="6893481" y="1405889"/>
            <a:ext cx="329184" cy="3291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6962061" y="1440181"/>
            <a:ext cx="205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0671" y="1440180"/>
            <a:ext cx="1714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</a:rPr>
              <a:t>Automatização
periódica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93481" y="1735074"/>
            <a:ext cx="21259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6975777" y="1796797"/>
            <a:ext cx="1961388" cy="57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>
                <a:solidFill>
                  <a:srgbClr val="1A1A2E"/>
                </a:solidFill>
              </a:rPr>
              <a:t>Criar rotinas de atualização mensal/trimestral.
Conectar ao Painel via Power BI ou
plataforma escolhida.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6931" y="3346704"/>
            <a:ext cx="8709660" cy="260604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TextBox 32"/>
          <p:cNvSpPr txBox="1"/>
          <p:nvPr/>
        </p:nvSpPr>
        <p:spPr>
          <a:xfrm>
            <a:off x="309801" y="3394711"/>
            <a:ext cx="54864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</a:rPr>
              <a:t>Indicadores SIAPE viáveis imediatamente (dificuldade baixa):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6931" y="3689604"/>
            <a:ext cx="8709660" cy="22631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Rectangle 34"/>
          <p:cNvSpPr/>
          <p:nvPr/>
        </p:nvSpPr>
        <p:spPr>
          <a:xfrm>
            <a:off x="206931" y="3689604"/>
            <a:ext cx="48006" cy="226314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TextBox 35"/>
          <p:cNvSpPr txBox="1"/>
          <p:nvPr/>
        </p:nvSpPr>
        <p:spPr>
          <a:xfrm>
            <a:off x="309801" y="3730753"/>
            <a:ext cx="34290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A1A2E"/>
                </a:solidFill>
              </a:rPr>
              <a:t>% Pessoas Negras em Liderança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3091" y="3730752"/>
            <a:ext cx="5074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PUBLICADO — Meta: 30% (Decreto 11.443/23)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6931" y="3915918"/>
            <a:ext cx="8709660" cy="226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Rectangle 38"/>
          <p:cNvSpPr/>
          <p:nvPr/>
        </p:nvSpPr>
        <p:spPr>
          <a:xfrm>
            <a:off x="206931" y="3915918"/>
            <a:ext cx="48006" cy="226314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309801" y="3957067"/>
            <a:ext cx="34290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A1A2E"/>
                </a:solidFill>
              </a:rPr>
              <a:t>Distribuição por Forma de Provimento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3091" y="3957066"/>
            <a:ext cx="5074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Estatutário, temporário, comissionado, emprego público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931" y="4142232"/>
            <a:ext cx="8709660" cy="22631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Rectangle 42"/>
          <p:cNvSpPr/>
          <p:nvPr/>
        </p:nvSpPr>
        <p:spPr>
          <a:xfrm>
            <a:off x="206931" y="4142232"/>
            <a:ext cx="48006" cy="226314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TextBox 43"/>
          <p:cNvSpPr txBox="1"/>
          <p:nvPr/>
        </p:nvSpPr>
        <p:spPr>
          <a:xfrm>
            <a:off x="309801" y="4183381"/>
            <a:ext cx="34290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A1A2E"/>
                </a:solidFill>
              </a:rPr>
              <a:t>Indicadores de Turnover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3091" y="4183380"/>
            <a:ext cx="5074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Entradas e saídas por período, órgão e carreira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6931" y="4368546"/>
            <a:ext cx="8709660" cy="226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Rectangle 46"/>
          <p:cNvSpPr/>
          <p:nvPr/>
        </p:nvSpPr>
        <p:spPr>
          <a:xfrm>
            <a:off x="206931" y="4368546"/>
            <a:ext cx="48006" cy="226314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TextBox 47"/>
          <p:cNvSpPr txBox="1"/>
          <p:nvPr/>
        </p:nvSpPr>
        <p:spPr>
          <a:xfrm>
            <a:off x="309801" y="4409695"/>
            <a:ext cx="34290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A1A2E"/>
                </a:solidFill>
              </a:rPr>
              <a:t>Taxa de Absenteísmo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73091" y="4409694"/>
            <a:ext cx="5074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Dias perdidos / dias trabalhados — por CID quando possível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6931" y="4594860"/>
            <a:ext cx="8709660" cy="22631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1" name="Rectangle 50"/>
          <p:cNvSpPr/>
          <p:nvPr/>
        </p:nvSpPr>
        <p:spPr>
          <a:xfrm>
            <a:off x="206931" y="4594860"/>
            <a:ext cx="48006" cy="226314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TextBox 51"/>
          <p:cNvSpPr txBox="1"/>
          <p:nvPr/>
        </p:nvSpPr>
        <p:spPr>
          <a:xfrm>
            <a:off x="309801" y="4636009"/>
            <a:ext cx="34290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A1A2E"/>
                </a:solidFill>
              </a:rPr>
              <a:t>Índice de Desigualdade Remuneratória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73091" y="4636008"/>
            <a:ext cx="5074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Diferencial de remuneração por gênero e raça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6931" y="4821174"/>
            <a:ext cx="8709660" cy="226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5" name="Rectangle 54"/>
          <p:cNvSpPr/>
          <p:nvPr/>
        </p:nvSpPr>
        <p:spPr>
          <a:xfrm>
            <a:off x="206931" y="4821174"/>
            <a:ext cx="48006" cy="226314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6" name="TextBox 55"/>
          <p:cNvSpPr txBox="1"/>
          <p:nvPr/>
        </p:nvSpPr>
        <p:spPr>
          <a:xfrm>
            <a:off x="309801" y="4862323"/>
            <a:ext cx="34290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A1A2E"/>
                </a:solidFill>
              </a:rPr>
              <a:t>% Servidores c/ Plano de Trabalho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73091" y="4862322"/>
            <a:ext cx="50749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Cobertura do PGD por órgão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891540"/>
            <a:ext cx="91417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75511" y="137160"/>
            <a:ext cx="8572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</a:rPr>
              <a:t>Como Obter os Indicadores — Pesquisa Vozes e Outras Fontes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994410"/>
            <a:ext cx="4183380" cy="30861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309801" y="1042416"/>
            <a:ext cx="40462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Pesquisa Vozes dos Servidores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1303020"/>
            <a:ext cx="4183380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58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309801" y="1405890"/>
            <a:ext cx="8915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587C9"/>
                </a:solidFill>
              </a:rPr>
              <a:t>O que é: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5631" y="1405890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Pesquisa de clima e engajamento aplicada periodicamente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5631" y="1584198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aos servidores públicos federais.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801" y="1940815"/>
            <a:ext cx="8915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587C9"/>
                </a:solidFill>
              </a:rPr>
              <a:t>Periodicidade: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5631" y="1940815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Bienal (recomenda-se aumentar para anual nas rodadas futuras)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801" y="2283715"/>
            <a:ext cx="891540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587C9"/>
                </a:solidFill>
              </a:rPr>
              <a:t>Indicadores disponíveis: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5631" y="2283715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Percepção de Justiça Remuneratória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5631" y="2462023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Segurança Psicológica nas Equipes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631" y="2640331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Engajamento no 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5631" y="2818639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Satisfação e Intenção de Saída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5631" y="2996947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Qualidade da Liderança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5631" y="3175255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Oportunidades de Capacitação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801" y="3586735"/>
            <a:ext cx="8915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587C9"/>
                </a:solidFill>
              </a:rPr>
              <a:t>Como usar: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5631" y="3586735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Cruzar com dados do SIAPE para análises mistas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5631" y="3765043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(administrativo + perceptivo)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801" y="4121659"/>
            <a:ext cx="89154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b="1">
                <a:solidFill>
                  <a:srgbClr val="1587C9"/>
                </a:solidFill>
              </a:rPr>
              <a:t>Limitação: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5631" y="4121659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Periodicidade bienal limita o monitoramento contínuo;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5631" y="4299967"/>
            <a:ext cx="301752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dados não individualizados nas publicações abertas.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61761" y="994410"/>
            <a:ext cx="4354830" cy="308610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4664631" y="1042416"/>
            <a:ext cx="41833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Outras Fontes Complementares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61761" y="1405889"/>
            <a:ext cx="4354830" cy="205740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TextBox 29"/>
          <p:cNvSpPr txBox="1"/>
          <p:nvPr/>
        </p:nvSpPr>
        <p:spPr>
          <a:xfrm>
            <a:off x="4650915" y="1447038"/>
            <a:ext cx="41833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SIASS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0915" y="1645921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Saúde e qualidade de vida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0915" y="1824229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Absenteísmo por CID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0915" y="2002537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Perícias e afastamentos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0915" y="2180844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Programas de promoção de saúde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61761" y="2496311"/>
            <a:ext cx="4354830" cy="205740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TextBox 35"/>
          <p:cNvSpPr txBox="1"/>
          <p:nvPr/>
        </p:nvSpPr>
        <p:spPr>
          <a:xfrm>
            <a:off x="4650915" y="2537460"/>
            <a:ext cx="41833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Painel DFT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0915" y="2736343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Dimensionamento da Força de Trabalho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0915" y="2914651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% órgãos com DFT formalizado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50915" y="3092959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Planejamento de ingressos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0915" y="3271267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Vagas previstas vs. realizadas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1761" y="3586734"/>
            <a:ext cx="4354830" cy="205740"/>
          </a:xfrm>
          <a:prstGeom prst="rect">
            <a:avLst/>
          </a:prstGeom>
          <a:solidFill>
            <a:srgbClr val="7B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TextBox 41"/>
          <p:cNvSpPr txBox="1"/>
          <p:nvPr/>
        </p:nvSpPr>
        <p:spPr>
          <a:xfrm>
            <a:off x="4650915" y="3627882"/>
            <a:ext cx="41833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IESGO / TCU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50915" y="3826764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Governança de Pessoas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0915" y="4005072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Indicadores de maturidade institucional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0915" y="4183381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Comparativo entre órgãos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50915" y="4361688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Benchmarking setorial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61761" y="4677155"/>
            <a:ext cx="4354830" cy="20574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TextBox 47"/>
          <p:cNvSpPr txBox="1"/>
          <p:nvPr/>
        </p:nvSpPr>
        <p:spPr>
          <a:xfrm>
            <a:off x="4650915" y="4718304"/>
            <a:ext cx="41833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ENAP / Dados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50915" y="4917186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Desenvolvimento e Capacitação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50915" y="5095494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Nº servidores formados pelo LideraGov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0915" y="5273802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Conclusão do PDI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50915" y="5452109"/>
            <a:ext cx="418338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• Ações de capacitação realizadas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"/>
            <a:ext cx="9141714" cy="5143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891540"/>
            <a:ext cx="91417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75511" y="137160"/>
            <a:ext cx="8572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</a:rPr>
              <a:t>Ficha Padrão de Metadados por Indicador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511" y="973837"/>
            <a:ext cx="85725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i="1" dirty="0">
                <a:solidFill>
                  <a:srgbClr val="1A1A2E"/>
                </a:solidFill>
              </a:rPr>
              <a:t>Cada </a:t>
            </a:r>
            <a:r>
              <a:rPr sz="825" i="1" dirty="0" err="1">
                <a:solidFill>
                  <a:srgbClr val="1A1A2E"/>
                </a:solidFill>
              </a:rPr>
              <a:t>indicador</a:t>
            </a:r>
            <a:r>
              <a:rPr sz="825" i="1" dirty="0">
                <a:solidFill>
                  <a:srgbClr val="1A1A2E"/>
                </a:solidFill>
              </a:rPr>
              <a:t> da </a:t>
            </a:r>
            <a:r>
              <a:rPr sz="825" i="1" dirty="0" err="1">
                <a:solidFill>
                  <a:srgbClr val="1A1A2E"/>
                </a:solidFill>
              </a:rPr>
              <a:t>plataforma</a:t>
            </a:r>
            <a:r>
              <a:rPr sz="825" i="1" dirty="0">
                <a:solidFill>
                  <a:srgbClr val="1A1A2E"/>
                </a:solidFill>
              </a:rPr>
              <a:t> </a:t>
            </a:r>
            <a:r>
              <a:rPr sz="825" i="1" dirty="0" err="1">
                <a:solidFill>
                  <a:srgbClr val="1A1A2E"/>
                </a:solidFill>
              </a:rPr>
              <a:t>deve</a:t>
            </a:r>
            <a:r>
              <a:rPr sz="825" i="1" dirty="0">
                <a:solidFill>
                  <a:srgbClr val="1A1A2E"/>
                </a:solidFill>
              </a:rPr>
              <a:t> </a:t>
            </a:r>
            <a:r>
              <a:rPr sz="825" i="1" dirty="0" err="1">
                <a:solidFill>
                  <a:srgbClr val="1A1A2E"/>
                </a:solidFill>
              </a:rPr>
              <a:t>possuir</a:t>
            </a:r>
            <a:r>
              <a:rPr sz="825" i="1" dirty="0">
                <a:solidFill>
                  <a:srgbClr val="1A1A2E"/>
                </a:solidFill>
              </a:rPr>
              <a:t> </a:t>
            </a:r>
            <a:r>
              <a:rPr sz="825" i="1" dirty="0" err="1">
                <a:solidFill>
                  <a:srgbClr val="1A1A2E"/>
                </a:solidFill>
              </a:rPr>
              <a:t>uma</a:t>
            </a:r>
            <a:r>
              <a:rPr sz="825" i="1" dirty="0">
                <a:solidFill>
                  <a:srgbClr val="1A1A2E"/>
                </a:solidFill>
              </a:rPr>
              <a:t> </a:t>
            </a:r>
            <a:r>
              <a:rPr sz="825" i="1" dirty="0" err="1">
                <a:solidFill>
                  <a:srgbClr val="1A1A2E"/>
                </a:solidFill>
              </a:rPr>
              <a:t>ficha</a:t>
            </a:r>
            <a:r>
              <a:rPr sz="825" i="1" dirty="0">
                <a:solidFill>
                  <a:srgbClr val="1A1A2E"/>
                </a:solidFill>
              </a:rPr>
              <a:t> de </a:t>
            </a:r>
            <a:r>
              <a:rPr sz="825" i="1" dirty="0" err="1">
                <a:solidFill>
                  <a:srgbClr val="1A1A2E"/>
                </a:solidFill>
              </a:rPr>
              <a:t>metadados</a:t>
            </a:r>
            <a:r>
              <a:rPr sz="825" i="1" dirty="0">
                <a:solidFill>
                  <a:srgbClr val="1A1A2E"/>
                </a:solidFill>
              </a:rPr>
              <a:t> </a:t>
            </a:r>
            <a:r>
              <a:rPr sz="825" i="1" dirty="0" err="1">
                <a:solidFill>
                  <a:srgbClr val="1A1A2E"/>
                </a:solidFill>
              </a:rPr>
              <a:t>padronizada</a:t>
            </a:r>
            <a:endParaRPr sz="825" i="1" dirty="0">
              <a:solidFill>
                <a:srgbClr val="1A1A2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6931" y="1303020"/>
            <a:ext cx="8709660" cy="274320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309801" y="1344168"/>
            <a:ext cx="850392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</a:rPr>
              <a:t>EXEMPLO:  Percentual de Pessoas Negras em Liderança</a:t>
            </a:r>
          </a:p>
        </p:txBody>
      </p:sp>
      <p:sp>
        <p:nvSpPr>
          <p:cNvPr id="9" name="Rectangle 8"/>
          <p:cNvSpPr/>
          <p:nvPr/>
        </p:nvSpPr>
        <p:spPr>
          <a:xfrm>
            <a:off x="206931" y="1659636"/>
            <a:ext cx="8709660" cy="243459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ectangle 9"/>
          <p:cNvSpPr/>
          <p:nvPr/>
        </p:nvSpPr>
        <p:spPr>
          <a:xfrm>
            <a:off x="206931" y="1659636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309801" y="1700784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Nome do Indicador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1461" y="1700785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Percentual de Pessoas Negras em Liderança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931" y="1903095"/>
            <a:ext cx="8709660" cy="243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206931" y="1903095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309801" y="1944243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Descrição Conceitual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1461" y="1944244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Proporção de cargos de liderança (CCE/FCE níveis 13–17) ocupados por pessoas que se autodeclaram pretas ou pardas.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931" y="2146554"/>
            <a:ext cx="8709660" cy="243459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206931" y="2146554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309801" y="2187702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Objetivo Analítico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61461" y="2187703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Monitorar o cumprimento das metas de equidade racial estabelecidas pelo Decreto 11.443/2023.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6931" y="2390013"/>
            <a:ext cx="8709660" cy="243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Rectangle 21"/>
          <p:cNvSpPr/>
          <p:nvPr/>
        </p:nvSpPr>
        <p:spPr>
          <a:xfrm>
            <a:off x="206931" y="2390013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309801" y="2431161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Fórmula de Cálculo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1461" y="2431162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(Nº cargos liderança ocupados por pessoas negras / Nº total cargos liderança ocupados) ×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6931" y="2633472"/>
            <a:ext cx="8709660" cy="243459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206931" y="2633472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309801" y="2674620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Unidade de Medida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1461" y="2674621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Percentual (%)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6931" y="2876931"/>
            <a:ext cx="8709660" cy="243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Rectangle 29"/>
          <p:cNvSpPr/>
          <p:nvPr/>
        </p:nvSpPr>
        <p:spPr>
          <a:xfrm>
            <a:off x="206931" y="2876931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309801" y="2918079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Periodicidade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1461" y="2918080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Mensal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931" y="3120390"/>
            <a:ext cx="8709660" cy="243459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Rectangle 33"/>
          <p:cNvSpPr/>
          <p:nvPr/>
        </p:nvSpPr>
        <p:spPr>
          <a:xfrm>
            <a:off x="206931" y="3120390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TextBox 34"/>
          <p:cNvSpPr txBox="1"/>
          <p:nvPr/>
        </p:nvSpPr>
        <p:spPr>
          <a:xfrm>
            <a:off x="309801" y="3161537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Fonte de Dados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61461" y="3161538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SIAPE — autodeclaração de raça/cor + tabela de cargos CCE/FCE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931" y="3363848"/>
            <a:ext cx="8709660" cy="243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ectangle 37"/>
          <p:cNvSpPr/>
          <p:nvPr/>
        </p:nvSpPr>
        <p:spPr>
          <a:xfrm>
            <a:off x="206931" y="3363848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TextBox 38"/>
          <p:cNvSpPr txBox="1"/>
          <p:nvPr/>
        </p:nvSpPr>
        <p:spPr>
          <a:xfrm>
            <a:off x="309801" y="3404996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Sistema de Origem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61461" y="3404997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SIAPE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6931" y="3607308"/>
            <a:ext cx="8709660" cy="243459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/>
          <p:cNvSpPr/>
          <p:nvPr/>
        </p:nvSpPr>
        <p:spPr>
          <a:xfrm>
            <a:off x="206931" y="3607308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TextBox 42"/>
          <p:cNvSpPr txBox="1"/>
          <p:nvPr/>
        </p:nvSpPr>
        <p:spPr>
          <a:xfrm>
            <a:off x="309801" y="3648455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Status Atual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61461" y="3648456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PUBLICADO — disponível em painel gov.br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6931" y="3850767"/>
            <a:ext cx="8709660" cy="243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Rectangle 45"/>
          <p:cNvSpPr/>
          <p:nvPr/>
        </p:nvSpPr>
        <p:spPr>
          <a:xfrm>
            <a:off x="206931" y="3850767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TextBox 46"/>
          <p:cNvSpPr txBox="1"/>
          <p:nvPr/>
        </p:nvSpPr>
        <p:spPr>
          <a:xfrm>
            <a:off x="309801" y="3891915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Meta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61461" y="3891916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30% — conforme Decreto 11.443/2023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6931" y="4094226"/>
            <a:ext cx="8709660" cy="243459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Rectangle 49"/>
          <p:cNvSpPr/>
          <p:nvPr/>
        </p:nvSpPr>
        <p:spPr>
          <a:xfrm>
            <a:off x="206931" y="4094226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1" name="TextBox 50"/>
          <p:cNvSpPr txBox="1"/>
          <p:nvPr/>
        </p:nvSpPr>
        <p:spPr>
          <a:xfrm>
            <a:off x="309801" y="4135373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Limitações Metodológicas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61461" y="4135374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Depende da autodeclaração do servidor; possibilidade de sub-registro.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6931" y="4337684"/>
            <a:ext cx="8709660" cy="243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4" name="Rectangle 53"/>
          <p:cNvSpPr/>
          <p:nvPr/>
        </p:nvSpPr>
        <p:spPr>
          <a:xfrm>
            <a:off x="206931" y="4337684"/>
            <a:ext cx="48006" cy="243459"/>
          </a:xfrm>
          <a:prstGeom prst="rect">
            <a:avLst/>
          </a:prstGeom>
          <a:solidFill>
            <a:srgbClr val="16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5" name="TextBox 54"/>
          <p:cNvSpPr txBox="1"/>
          <p:nvPr/>
        </p:nvSpPr>
        <p:spPr>
          <a:xfrm>
            <a:off x="309801" y="4378832"/>
            <a:ext cx="17830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Responsável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61461" y="4378833"/>
            <a:ext cx="665226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SGP/MGI — Coordenação-Geral de Políticas de Diversidade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891540"/>
            <a:ext cx="91417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75511" y="137160"/>
            <a:ext cx="8572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</a:rPr>
              <a:t>Principais Desafios e Riscos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2" y="1062990"/>
            <a:ext cx="2811779" cy="274320"/>
          </a:xfrm>
          <a:prstGeom prst="rect">
            <a:avLst/>
          </a:prstGeom>
          <a:solidFill>
            <a:srgbClr val="E8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206931" y="1062990"/>
            <a:ext cx="24003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241221" y="1110996"/>
            <a:ext cx="1714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967" y="1110996"/>
            <a:ext cx="2468880" cy="21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</a:rPr>
              <a:t>Dados sem responsável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932" y="1337310"/>
            <a:ext cx="2811779" cy="1632204"/>
          </a:xfrm>
          <a:prstGeom prst="rect">
            <a:avLst/>
          </a:prstGeom>
          <a:solidFill>
            <a:srgbClr val="FFFFFF"/>
          </a:solidFill>
          <a:ln w="7620">
            <a:solidFill>
              <a:srgbClr val="E8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289227" y="1392174"/>
            <a:ext cx="2647188" cy="42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Indicadores cujo proprietário não é definido tendem a ficar desatualizados.
Impacto: desconfiança no painel e abandono do monitoramento.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227" y="2036826"/>
            <a:ext cx="2647188" cy="3429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289227" y="2105406"/>
            <a:ext cx="3771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E86B2B"/>
                </a:solidFill>
              </a:rPr>
              <a:t>Mitig.: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275" y="2105406"/>
            <a:ext cx="22631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Designar formalmente um responsável por fonte
e por indicador desde o início.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161" y="1062990"/>
            <a:ext cx="2811779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3190160" y="1062990"/>
            <a:ext cx="24003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3224450" y="1110996"/>
            <a:ext cx="1714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8196" y="1110996"/>
            <a:ext cx="2468880" cy="21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</a:rPr>
              <a:t>Regras de negócio não documentadas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90161" y="1337310"/>
            <a:ext cx="2811779" cy="1632204"/>
          </a:xfrm>
          <a:prstGeom prst="rect">
            <a:avLst/>
          </a:prstGeom>
          <a:solidFill>
            <a:srgbClr val="FFFFFF"/>
          </a:solidFill>
          <a:ln w="76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3272457" y="1392174"/>
            <a:ext cx="2647188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Muitos indicadores dependem de critérios que existem apenas
na memória das equipes, sem documentação formal.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2457" y="2036826"/>
            <a:ext cx="2647188" cy="3429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3272457" y="2105406"/>
            <a:ext cx="3771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C0392B"/>
                </a:solidFill>
              </a:rPr>
              <a:t>Mitig.: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6504" y="2105406"/>
            <a:ext cx="22631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Mapear e documentar as regras em metadados
avant de calcular qualquer indicador.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3392" y="1062990"/>
            <a:ext cx="2811779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/>
          <p:cNvSpPr/>
          <p:nvPr/>
        </p:nvSpPr>
        <p:spPr>
          <a:xfrm>
            <a:off x="6173391" y="1062990"/>
            <a:ext cx="24003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TextBox 25"/>
          <p:cNvSpPr txBox="1"/>
          <p:nvPr/>
        </p:nvSpPr>
        <p:spPr>
          <a:xfrm>
            <a:off x="6207681" y="1110996"/>
            <a:ext cx="1714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427" y="1110996"/>
            <a:ext cx="2468880" cy="21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</a:rPr>
              <a:t>Periodicidade não pactuada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3392" y="1337310"/>
            <a:ext cx="2811779" cy="1632204"/>
          </a:xfrm>
          <a:prstGeom prst="rect">
            <a:avLst/>
          </a:prstGeom>
          <a:solidFill>
            <a:srgbClr val="FFFFFF"/>
          </a:solidFill>
          <a:ln w="762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6255686" y="1392174"/>
            <a:ext cx="2647188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Sem um calendário de atualização formal, os dados ficam
desatualizados e o painel perde credibilidade.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5686" y="2036826"/>
            <a:ext cx="2647188" cy="3429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6255686" y="2105406"/>
            <a:ext cx="3771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5A623"/>
                </a:solidFill>
              </a:rPr>
              <a:t>Mitig.: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9735" y="2105406"/>
            <a:ext cx="22631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Criar um calendário de coleta aprovado pelo
Comitê Gestor com datas e responsáveis.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932" y="3051810"/>
            <a:ext cx="2811779" cy="274320"/>
          </a:xfrm>
          <a:prstGeom prst="rect">
            <a:avLst/>
          </a:prstGeom>
          <a:solidFill>
            <a:srgbClr val="7B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Rectangle 33"/>
          <p:cNvSpPr/>
          <p:nvPr/>
        </p:nvSpPr>
        <p:spPr>
          <a:xfrm>
            <a:off x="206931" y="3051810"/>
            <a:ext cx="24003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TextBox 34"/>
          <p:cNvSpPr txBox="1"/>
          <p:nvPr/>
        </p:nvSpPr>
        <p:spPr>
          <a:xfrm>
            <a:off x="241221" y="3099816"/>
            <a:ext cx="1714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4967" y="3099816"/>
            <a:ext cx="2468880" cy="21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</a:rPr>
              <a:t>Integração técnica entre sistemas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932" y="3326130"/>
            <a:ext cx="2811779" cy="1632204"/>
          </a:xfrm>
          <a:prstGeom prst="rect">
            <a:avLst/>
          </a:prstGeom>
          <a:solidFill>
            <a:srgbClr val="FFFFFF"/>
          </a:solidFill>
          <a:ln w="7620">
            <a:solidFill>
              <a:srgbClr val="7B3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TextBox 37"/>
          <p:cNvSpPr txBox="1"/>
          <p:nvPr/>
        </p:nvSpPr>
        <p:spPr>
          <a:xfrm>
            <a:off x="289227" y="3380994"/>
            <a:ext cx="2647188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SIAPE, SIASS e Vozes possuem formatos e periodicidades
distintas, dificultando integração automática.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227" y="4025646"/>
            <a:ext cx="2647188" cy="3429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289227" y="4094226"/>
            <a:ext cx="3771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7B3FA8"/>
                </a:solidFill>
              </a:rPr>
              <a:t>Mitig.: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275" y="4094226"/>
            <a:ext cx="22631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Iniciar com extrações manuais padronizadas;
automatizar progressivamente.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90161" y="3051810"/>
            <a:ext cx="2811779" cy="27432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Rectangle 42"/>
          <p:cNvSpPr/>
          <p:nvPr/>
        </p:nvSpPr>
        <p:spPr>
          <a:xfrm>
            <a:off x="3190160" y="3051810"/>
            <a:ext cx="24003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TextBox 43"/>
          <p:cNvSpPr txBox="1"/>
          <p:nvPr/>
        </p:nvSpPr>
        <p:spPr>
          <a:xfrm>
            <a:off x="3224450" y="3099816"/>
            <a:ext cx="1714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8196" y="3099816"/>
            <a:ext cx="2468880" cy="21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</a:rPr>
              <a:t>Validação institucional morosa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90161" y="3326130"/>
            <a:ext cx="2811779" cy="1632204"/>
          </a:xfrm>
          <a:prstGeom prst="rect">
            <a:avLst/>
          </a:prstGeom>
          <a:solidFill>
            <a:srgbClr val="FFFFFF"/>
          </a:solidFill>
          <a:ln w="7620">
            <a:solidFill>
              <a:srgbClr val="158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TextBox 46"/>
          <p:cNvSpPr txBox="1"/>
          <p:nvPr/>
        </p:nvSpPr>
        <p:spPr>
          <a:xfrm>
            <a:off x="3272457" y="3380994"/>
            <a:ext cx="2647188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Indicadores 'A avaliar' podem demorar a obter validação
das áreas de negócio, travando a publicação.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2457" y="4025646"/>
            <a:ext cx="2647188" cy="3429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9" name="TextBox 48"/>
          <p:cNvSpPr txBox="1"/>
          <p:nvPr/>
        </p:nvSpPr>
        <p:spPr>
          <a:xfrm>
            <a:off x="3272457" y="4094226"/>
            <a:ext cx="3771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587C9"/>
                </a:solidFill>
              </a:rPr>
              <a:t>Mitig.: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6504" y="4094226"/>
            <a:ext cx="22631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Lançar o painel com indicadores já validados;
validar os demais em paralelo.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3392" y="3051810"/>
            <a:ext cx="2811779" cy="274320"/>
          </a:xfrm>
          <a:prstGeom prst="rect">
            <a:avLst/>
          </a:prstGeom>
          <a:solidFill>
            <a:srgbClr val="005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Rectangle 51"/>
          <p:cNvSpPr/>
          <p:nvPr/>
        </p:nvSpPr>
        <p:spPr>
          <a:xfrm>
            <a:off x="6173391" y="3051810"/>
            <a:ext cx="24003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3" name="TextBox 52"/>
          <p:cNvSpPr txBox="1"/>
          <p:nvPr/>
        </p:nvSpPr>
        <p:spPr>
          <a:xfrm>
            <a:off x="6207681" y="3099816"/>
            <a:ext cx="1714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1427" y="3099816"/>
            <a:ext cx="2468880" cy="21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</a:rPr>
              <a:t>Baixa adesão à Pesquisa Vozes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3392" y="3326130"/>
            <a:ext cx="2811779" cy="1632204"/>
          </a:xfrm>
          <a:prstGeom prst="rect">
            <a:avLst/>
          </a:prstGeom>
          <a:solidFill>
            <a:srgbClr val="FFFFFF"/>
          </a:solidFill>
          <a:ln w="7620">
            <a:solidFill>
              <a:srgbClr val="005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6" name="TextBox 55"/>
          <p:cNvSpPr txBox="1"/>
          <p:nvPr/>
        </p:nvSpPr>
        <p:spPr>
          <a:xfrm>
            <a:off x="6255686" y="3380994"/>
            <a:ext cx="2647188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1A1A2E"/>
                </a:solidFill>
              </a:rPr>
              <a:t>Taxa de resposta não representativa compromete
a validade dos indicadores perceptivos.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55686" y="4025646"/>
            <a:ext cx="2647188" cy="3429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8" name="TextBox 57"/>
          <p:cNvSpPr txBox="1"/>
          <p:nvPr/>
        </p:nvSpPr>
        <p:spPr>
          <a:xfrm>
            <a:off x="6255686" y="4094226"/>
            <a:ext cx="3771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00557F"/>
                </a:solidFill>
              </a:rPr>
              <a:t>Mitig.: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9735" y="4094226"/>
            <a:ext cx="22631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1A1A2E"/>
                </a:solidFill>
              </a:rPr>
              <a:t>Monitorar taxa de resposta por órgão e
comunicar a importância da participação.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6" y="82296"/>
            <a:ext cx="9141714" cy="5239512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8229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91" y="5061204"/>
            <a:ext cx="9141714" cy="8229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1191" y="0"/>
            <a:ext cx="82296" cy="514350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9060609" y="0"/>
            <a:ext cx="82296" cy="5143500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1029891" y="1028700"/>
            <a:ext cx="70843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Construindo com consistência,
crescendo com sustentabilidade.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1491" y="1988820"/>
            <a:ext cx="4341114" cy="41148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1715691" y="2201418"/>
            <a:ext cx="150876" cy="15087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1955721" y="216027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2F5F9"/>
                </a:solidFill>
              </a:rPr>
              <a:t>Iniciar com indicadores viáveis garante credibilidade ao painel desde o lançamento.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5691" y="2530602"/>
            <a:ext cx="150876" cy="15087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1955721" y="2489454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2F5F9"/>
                </a:solidFill>
              </a:rPr>
              <a:t>Dados sustentáveis exigem responsáveis definidos, periodicidade pactuada e validação regular.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5691" y="2859785"/>
            <a:ext cx="150876" cy="150876"/>
          </a:xfrm>
          <a:prstGeom prst="rect">
            <a:avLst/>
          </a:prstGeom>
          <a:solidFill>
            <a:srgbClr val="158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1955721" y="2818637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2F5F9"/>
                </a:solidFill>
              </a:rPr>
              <a:t>A evolução incremental permite ampliar o escopo sem comprometer a qualidade.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4813" y="3185541"/>
            <a:ext cx="5712714" cy="41148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1453935" y="3401569"/>
            <a:ext cx="57127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dirty="0" err="1">
                <a:solidFill>
                  <a:srgbClr val="F2F5F9"/>
                </a:solidFill>
              </a:rPr>
              <a:t>Secretaria</a:t>
            </a:r>
            <a:r>
              <a:rPr sz="825" dirty="0">
                <a:solidFill>
                  <a:srgbClr val="F2F5F9"/>
                </a:solidFill>
              </a:rPr>
              <a:t> de </a:t>
            </a:r>
            <a:r>
              <a:rPr sz="825" dirty="0" err="1">
                <a:solidFill>
                  <a:srgbClr val="F2F5F9"/>
                </a:solidFill>
              </a:rPr>
              <a:t>Gestão</a:t>
            </a:r>
            <a:r>
              <a:rPr sz="825" dirty="0">
                <a:solidFill>
                  <a:srgbClr val="F2F5F9"/>
                </a:solidFill>
              </a:rPr>
              <a:t> de </a:t>
            </a:r>
            <a:r>
              <a:rPr sz="825" dirty="0" err="1">
                <a:solidFill>
                  <a:srgbClr val="F2F5F9"/>
                </a:solidFill>
              </a:rPr>
              <a:t>Pessoas</a:t>
            </a:r>
            <a:r>
              <a:rPr sz="825" dirty="0">
                <a:solidFill>
                  <a:srgbClr val="F2F5F9"/>
                </a:solidFill>
              </a:rPr>
              <a:t> — SGP / </a:t>
            </a:r>
            <a:r>
              <a:rPr sz="825" dirty="0" err="1">
                <a:solidFill>
                  <a:srgbClr val="F2F5F9"/>
                </a:solidFill>
              </a:rPr>
              <a:t>Ministério</a:t>
            </a:r>
            <a:r>
              <a:rPr sz="825" dirty="0">
                <a:solidFill>
                  <a:srgbClr val="F2F5F9"/>
                </a:solidFill>
              </a:rPr>
              <a:t> da </a:t>
            </a:r>
            <a:r>
              <a:rPr sz="825" dirty="0" err="1">
                <a:solidFill>
                  <a:srgbClr val="F2F5F9"/>
                </a:solidFill>
              </a:rPr>
              <a:t>Gestão</a:t>
            </a:r>
            <a:r>
              <a:rPr sz="825" dirty="0">
                <a:solidFill>
                  <a:srgbClr val="F2F5F9"/>
                </a:solidFill>
              </a:rPr>
              <a:t> e </a:t>
            </a:r>
            <a:r>
              <a:rPr sz="825" dirty="0" err="1">
                <a:solidFill>
                  <a:srgbClr val="F2F5F9"/>
                </a:solidFill>
              </a:rPr>
              <a:t>Inovação</a:t>
            </a:r>
            <a:r>
              <a:rPr sz="825" dirty="0">
                <a:solidFill>
                  <a:srgbClr val="F2F5F9"/>
                </a:solidFill>
              </a:rPr>
              <a:t> </a:t>
            </a:r>
            <a:r>
              <a:rPr sz="825" dirty="0" err="1">
                <a:solidFill>
                  <a:srgbClr val="F2F5F9"/>
                </a:solidFill>
              </a:rPr>
              <a:t>em</a:t>
            </a:r>
            <a:r>
              <a:rPr sz="825" dirty="0">
                <a:solidFill>
                  <a:srgbClr val="F2F5F9"/>
                </a:solidFill>
              </a:rPr>
              <a:t> Serviços </a:t>
            </a:r>
            <a:r>
              <a:rPr sz="825" dirty="0" err="1">
                <a:solidFill>
                  <a:srgbClr val="F2F5F9"/>
                </a:solidFill>
              </a:rPr>
              <a:t>Públicos</a:t>
            </a:r>
            <a:endParaRPr sz="825" dirty="0">
              <a:solidFill>
                <a:srgbClr val="F2F5F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89936" y="3645029"/>
            <a:ext cx="57127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dirty="0">
                <a:solidFill>
                  <a:srgbClr val="CCD5E0"/>
                </a:solidFill>
              </a:rPr>
              <a:t>Maio de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2783</Words>
  <Application>Microsoft Macintosh PowerPoint</Application>
  <PresentationFormat>Apresentação na tela (16:9)</PresentationFormat>
  <Paragraphs>530</Paragraphs>
  <Slides>17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Marcelo Rodrigues Ribeiro</cp:lastModifiedBy>
  <cp:revision>2</cp:revision>
  <dcterms:created xsi:type="dcterms:W3CDTF">2013-01-27T09:14:16Z</dcterms:created>
  <dcterms:modified xsi:type="dcterms:W3CDTF">2026-05-27T13:29:06Z</dcterms:modified>
  <cp:category/>
</cp:coreProperties>
</file>